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0" r:id="rId3"/>
    <p:sldId id="257" r:id="rId4"/>
    <p:sldId id="259" r:id="rId5"/>
    <p:sldId id="271" r:id="rId6"/>
    <p:sldId id="274" r:id="rId7"/>
    <p:sldId id="275" r:id="rId8"/>
    <p:sldId id="258" r:id="rId9"/>
    <p:sldId id="272" r:id="rId10"/>
    <p:sldId id="260" r:id="rId11"/>
    <p:sldId id="276" r:id="rId12"/>
    <p:sldId id="265" r:id="rId13"/>
    <p:sldId id="268" r:id="rId14"/>
    <p:sldId id="267" r:id="rId15"/>
    <p:sldId id="273" r:id="rId16"/>
    <p:sldId id="26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9" d="100"/>
          <a:sy n="79" d="100"/>
        </p:scale>
        <p:origin x="821"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5439B0-7270-41A5-819E-F3949880662D}" type="datetimeFigureOut">
              <a:rPr lang="en-IN" smtClean="0"/>
              <a:t>24-03-2026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518D7-13D3-4110-9EB7-C1C0A846D8B9}" type="slidenum">
              <a:rPr lang="en-IN" smtClean="0"/>
              <a:t>‹#›</a:t>
            </a:fld>
            <a:endParaRPr lang="en-IN"/>
          </a:p>
        </p:txBody>
      </p:sp>
    </p:spTree>
    <p:extLst>
      <p:ext uri="{BB962C8B-B14F-4D97-AF65-F5344CB8AC3E}">
        <p14:creationId xmlns:p14="http://schemas.microsoft.com/office/powerpoint/2010/main" val="2576689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C7518D7-13D3-4110-9EB7-C1C0A846D8B9}" type="slidenum">
              <a:rPr lang="en-IN" smtClean="0"/>
              <a:t>1</a:t>
            </a:fld>
            <a:endParaRPr lang="en-IN"/>
          </a:p>
        </p:txBody>
      </p:sp>
    </p:spTree>
    <p:extLst>
      <p:ext uri="{BB962C8B-B14F-4D97-AF65-F5344CB8AC3E}">
        <p14:creationId xmlns:p14="http://schemas.microsoft.com/office/powerpoint/2010/main" val="3218081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C7518D7-13D3-4110-9EB7-C1C0A846D8B9}" type="slidenum">
              <a:rPr lang="en-IN" smtClean="0"/>
              <a:t>8</a:t>
            </a:fld>
            <a:endParaRPr lang="en-IN"/>
          </a:p>
        </p:txBody>
      </p:sp>
    </p:spTree>
    <p:extLst>
      <p:ext uri="{BB962C8B-B14F-4D97-AF65-F5344CB8AC3E}">
        <p14:creationId xmlns:p14="http://schemas.microsoft.com/office/powerpoint/2010/main" val="1121312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flask.palletsprojects.com/" TargetMode="External"/><Relationship Id="rId2" Type="http://schemas.openxmlformats.org/officeDocument/2006/relationships/hyperlink" Target="https://docs.python.org/" TargetMode="External"/><Relationship Id="rId1" Type="http://schemas.openxmlformats.org/officeDocument/2006/relationships/slideLayout" Target="../slideLayouts/slideLayout6.xml"/><Relationship Id="rId5" Type="http://schemas.openxmlformats.org/officeDocument/2006/relationships/hyperlink" Target="https://www.w3schools.com/" TargetMode="External"/><Relationship Id="rId4" Type="http://schemas.openxmlformats.org/officeDocument/2006/relationships/hyperlink" Target="https://www.mongodb.com/doc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8640"/>
            <a:ext cx="12191695"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91695" cy="1463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868680"/>
            <a:ext cx="3200400" cy="32004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966960" y="4937760"/>
            <a:ext cx="2468880" cy="24688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469880" y="310896"/>
            <a:ext cx="109728" cy="1645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634472" y="182880"/>
            <a:ext cx="10972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799063" y="64008"/>
            <a:ext cx="109728" cy="4114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63655" y="219456"/>
            <a:ext cx="10972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1616" y="2366998"/>
            <a:ext cx="9235440" cy="749808"/>
          </a:xfrm>
          <a:prstGeom prst="rect">
            <a:avLst/>
          </a:prstGeom>
          <a:noFill/>
        </p:spPr>
        <p:txBody>
          <a:bodyPr wrap="square" anchor="t">
            <a:spAutoFit/>
          </a:bodyPr>
          <a:lstStyle/>
          <a:p>
            <a:pPr algn="l"/>
            <a:r>
              <a:rPr sz="3400" b="1" dirty="0">
                <a:solidFill>
                  <a:srgbClr val="112646"/>
                </a:solidFill>
                <a:latin typeface="Segoe UI"/>
              </a:rPr>
              <a:t>Expense Tracker System</a:t>
            </a:r>
          </a:p>
        </p:txBody>
      </p:sp>
      <p:sp>
        <p:nvSpPr>
          <p:cNvPr id="11" name="TextBox 10"/>
          <p:cNvSpPr txBox="1"/>
          <p:nvPr/>
        </p:nvSpPr>
        <p:spPr>
          <a:xfrm>
            <a:off x="453526" y="2988977"/>
            <a:ext cx="10058400" cy="475488"/>
          </a:xfrm>
          <a:prstGeom prst="rect">
            <a:avLst/>
          </a:prstGeom>
          <a:noFill/>
        </p:spPr>
        <p:txBody>
          <a:bodyPr wrap="square" anchor="t">
            <a:spAutoFit/>
          </a:bodyPr>
          <a:lstStyle/>
          <a:p>
            <a:pPr algn="l"/>
            <a:r>
              <a:rPr sz="1500" b="0" dirty="0">
                <a:solidFill>
                  <a:srgbClr val="617186"/>
                </a:solidFill>
                <a:latin typeface="Segoe UI"/>
              </a:rPr>
              <a:t>Mini Project Presentation</a:t>
            </a:r>
          </a:p>
        </p:txBody>
      </p:sp>
      <p:sp>
        <p:nvSpPr>
          <p:cNvPr id="14" name="Rounded Rectangle 13"/>
          <p:cNvSpPr/>
          <p:nvPr/>
        </p:nvSpPr>
        <p:spPr>
          <a:xfrm>
            <a:off x="182880" y="3742230"/>
            <a:ext cx="5486400" cy="2872579"/>
          </a:xfrm>
          <a:prstGeom prst="roundRect">
            <a:avLst/>
          </a:prstGeom>
          <a:solidFill>
            <a:schemeClr val="accent5">
              <a:lumMod val="40000"/>
              <a:lumOff val="60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a:p>
        </p:txBody>
      </p:sp>
      <p:sp>
        <p:nvSpPr>
          <p:cNvPr id="15" name="Rounded Rectangle 14"/>
          <p:cNvSpPr/>
          <p:nvPr/>
        </p:nvSpPr>
        <p:spPr>
          <a:xfrm>
            <a:off x="6300215" y="3774063"/>
            <a:ext cx="4773168" cy="1997965"/>
          </a:xfrm>
          <a:prstGeom prst="round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a:p>
        </p:txBody>
      </p:sp>
      <p:sp>
        <p:nvSpPr>
          <p:cNvPr id="16" name="TextBox 15"/>
          <p:cNvSpPr txBox="1"/>
          <p:nvPr/>
        </p:nvSpPr>
        <p:spPr>
          <a:xfrm>
            <a:off x="504087" y="3872484"/>
            <a:ext cx="2560320" cy="400110"/>
          </a:xfrm>
          <a:prstGeom prst="rect">
            <a:avLst/>
          </a:prstGeom>
          <a:noFill/>
        </p:spPr>
        <p:txBody>
          <a:bodyPr wrap="square" anchor="t">
            <a:spAutoFit/>
          </a:bodyPr>
          <a:lstStyle/>
          <a:p>
            <a:pPr algn="l"/>
            <a:r>
              <a:rPr sz="2000" b="1" dirty="0">
                <a:solidFill>
                  <a:srgbClr val="112646"/>
                </a:solidFill>
                <a:latin typeface="Segoe UI"/>
              </a:rPr>
              <a:t>Submitted By:</a:t>
            </a:r>
          </a:p>
        </p:txBody>
      </p:sp>
      <p:sp>
        <p:nvSpPr>
          <p:cNvPr id="17" name="TextBox 16"/>
          <p:cNvSpPr txBox="1"/>
          <p:nvPr/>
        </p:nvSpPr>
        <p:spPr>
          <a:xfrm>
            <a:off x="481616" y="4427193"/>
            <a:ext cx="4362758" cy="1208027"/>
          </a:xfrm>
          <a:prstGeom prst="rect">
            <a:avLst/>
          </a:prstGeom>
          <a:noFill/>
        </p:spPr>
        <p:txBody>
          <a:bodyPr wrap="square" anchor="t">
            <a:noAutofit/>
          </a:bodyPr>
          <a:lstStyle/>
          <a:p>
            <a:r>
              <a:rPr lang="en-IN" sz="2000" b="0" dirty="0">
                <a:solidFill>
                  <a:srgbClr val="2E4055"/>
                </a:solidFill>
                <a:latin typeface="Segoe UI"/>
              </a:rPr>
              <a:t>1. Ishan Chaudhari (19)</a:t>
            </a:r>
          </a:p>
          <a:p>
            <a:r>
              <a:rPr lang="en-IN" sz="2000" b="0" dirty="0">
                <a:solidFill>
                  <a:srgbClr val="2E4055"/>
                </a:solidFill>
                <a:latin typeface="Segoe UI"/>
              </a:rPr>
              <a:t>2. </a:t>
            </a:r>
            <a:r>
              <a:rPr lang="en-IN" sz="2000" b="0" dirty="0" err="1">
                <a:solidFill>
                  <a:srgbClr val="2E4055"/>
                </a:solidFill>
                <a:latin typeface="Segoe UI"/>
              </a:rPr>
              <a:t>Lavkush</a:t>
            </a:r>
            <a:r>
              <a:rPr lang="en-IN" sz="2000" b="0" dirty="0">
                <a:solidFill>
                  <a:srgbClr val="2E4055"/>
                </a:solidFill>
                <a:latin typeface="Segoe UI"/>
              </a:rPr>
              <a:t> Tiwari (123)</a:t>
            </a:r>
          </a:p>
          <a:p>
            <a:r>
              <a:rPr lang="en-IN" sz="2000" b="0" dirty="0">
                <a:solidFill>
                  <a:srgbClr val="2E4055"/>
                </a:solidFill>
                <a:latin typeface="Segoe UI"/>
              </a:rPr>
              <a:t>3. Om </a:t>
            </a:r>
            <a:r>
              <a:rPr lang="en-IN" sz="2000" b="0" dirty="0" err="1">
                <a:solidFill>
                  <a:srgbClr val="2E4055"/>
                </a:solidFill>
                <a:latin typeface="Segoe UI"/>
              </a:rPr>
              <a:t>Sahane</a:t>
            </a:r>
            <a:r>
              <a:rPr lang="en-IN" sz="2000" b="0" dirty="0">
                <a:solidFill>
                  <a:srgbClr val="2E4055"/>
                </a:solidFill>
                <a:latin typeface="Segoe UI"/>
              </a:rPr>
              <a:t> (95)</a:t>
            </a:r>
          </a:p>
          <a:p>
            <a:r>
              <a:rPr lang="en-IN" sz="2000" b="0" dirty="0">
                <a:solidFill>
                  <a:srgbClr val="2E4055"/>
                </a:solidFill>
                <a:latin typeface="Segoe UI"/>
              </a:rPr>
              <a:t>4. Khan Mazin Rasheed Ahmed (59)</a:t>
            </a:r>
            <a:endParaRPr sz="2000" b="0" dirty="0">
              <a:solidFill>
                <a:srgbClr val="2E4055"/>
              </a:solidFill>
              <a:latin typeface="Segoe UI"/>
            </a:endParaRPr>
          </a:p>
        </p:txBody>
      </p:sp>
      <p:sp>
        <p:nvSpPr>
          <p:cNvPr id="18" name="TextBox 17"/>
          <p:cNvSpPr txBox="1"/>
          <p:nvPr/>
        </p:nvSpPr>
        <p:spPr>
          <a:xfrm>
            <a:off x="502141" y="5918988"/>
            <a:ext cx="5029200" cy="338554"/>
          </a:xfrm>
          <a:prstGeom prst="rect">
            <a:avLst/>
          </a:prstGeom>
          <a:noFill/>
        </p:spPr>
        <p:txBody>
          <a:bodyPr wrap="square" anchor="t">
            <a:spAutoFit/>
          </a:bodyPr>
          <a:lstStyle/>
          <a:p>
            <a:pPr algn="l"/>
            <a:r>
              <a:rPr lang="en-US" sz="1600" b="1" dirty="0">
                <a:solidFill>
                  <a:srgbClr val="617186"/>
                </a:solidFill>
                <a:latin typeface="Segoe UI"/>
              </a:rPr>
              <a:t>Branch: Computer Engineering (S.E.) (2025-26)</a:t>
            </a:r>
            <a:endParaRPr sz="1600" b="1" dirty="0">
              <a:solidFill>
                <a:srgbClr val="617186"/>
              </a:solidFill>
              <a:latin typeface="Segoe UI"/>
            </a:endParaRPr>
          </a:p>
        </p:txBody>
      </p:sp>
      <p:sp>
        <p:nvSpPr>
          <p:cNvPr id="19" name="TextBox 18"/>
          <p:cNvSpPr txBox="1"/>
          <p:nvPr/>
        </p:nvSpPr>
        <p:spPr>
          <a:xfrm>
            <a:off x="6553046" y="3872484"/>
            <a:ext cx="2863328" cy="369332"/>
          </a:xfrm>
          <a:prstGeom prst="rect">
            <a:avLst/>
          </a:prstGeom>
          <a:noFill/>
        </p:spPr>
        <p:txBody>
          <a:bodyPr wrap="square" anchor="t">
            <a:spAutoFit/>
          </a:bodyPr>
          <a:lstStyle/>
          <a:p>
            <a:pPr algn="l"/>
            <a:r>
              <a:rPr lang="en-US" b="1" dirty="0">
                <a:solidFill>
                  <a:srgbClr val="112646"/>
                </a:solidFill>
                <a:latin typeface="Segoe UI"/>
              </a:rPr>
              <a:t>Under the Guidance of</a:t>
            </a:r>
            <a:r>
              <a:rPr b="1" dirty="0">
                <a:solidFill>
                  <a:srgbClr val="112646"/>
                </a:solidFill>
                <a:latin typeface="Segoe UI"/>
              </a:rPr>
              <a:t>:</a:t>
            </a:r>
          </a:p>
        </p:txBody>
      </p:sp>
      <p:sp>
        <p:nvSpPr>
          <p:cNvPr id="20" name="TextBox 19"/>
          <p:cNvSpPr txBox="1"/>
          <p:nvPr/>
        </p:nvSpPr>
        <p:spPr>
          <a:xfrm>
            <a:off x="6507414" y="4322778"/>
            <a:ext cx="4480560" cy="707886"/>
          </a:xfrm>
          <a:prstGeom prst="rect">
            <a:avLst/>
          </a:prstGeom>
          <a:noFill/>
        </p:spPr>
        <p:txBody>
          <a:bodyPr wrap="square" anchor="t">
            <a:spAutoFit/>
          </a:bodyPr>
          <a:lstStyle/>
          <a:p>
            <a:r>
              <a:rPr lang="en-US" sz="2000" dirty="0">
                <a:solidFill>
                  <a:srgbClr val="2E4055"/>
                </a:solidFill>
                <a:latin typeface="Segoe UI"/>
              </a:rPr>
              <a:t>Prof. Rajni Ratnaparkhi</a:t>
            </a:r>
          </a:p>
          <a:p>
            <a:pPr algn="l"/>
            <a:endParaRPr sz="2000" b="0" dirty="0">
              <a:solidFill>
                <a:srgbClr val="2E4055"/>
              </a:solidFill>
              <a:latin typeface="Segoe UI"/>
            </a:endParaRPr>
          </a:p>
        </p:txBody>
      </p:sp>
      <p:sp>
        <p:nvSpPr>
          <p:cNvPr id="13" name="TextBox 4">
            <a:extLst>
              <a:ext uri="{FF2B5EF4-FFF2-40B4-BE49-F238E27FC236}">
                <a16:creationId xmlns:a16="http://schemas.microsoft.com/office/drawing/2014/main" id="{4C2A214F-2C53-B5CD-1BE8-5F99EC01D147}"/>
              </a:ext>
            </a:extLst>
          </p:cNvPr>
          <p:cNvSpPr txBox="1"/>
          <p:nvPr/>
        </p:nvSpPr>
        <p:spPr>
          <a:xfrm>
            <a:off x="2202838" y="113176"/>
            <a:ext cx="7706252" cy="206210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dirty="0">
                <a:ln>
                  <a:noFill/>
                </a:ln>
                <a:effectLst>
                  <a:outerShdw blurRad="38100" dist="38100" dir="2700000" algn="tl">
                    <a:srgbClr val="000000">
                      <a:alpha val="43137"/>
                    </a:srgbClr>
                  </a:outerShdw>
                </a:effectLst>
                <a:uLnTx/>
                <a:uFillTx/>
                <a:latin typeface="Arial Rounded MT Bold" panose="020F0704030504030204" pitchFamily="34" charset="0"/>
                <a:ea typeface="+mn-ea"/>
                <a:cs typeface="Aharoni" panose="02010803020104030203" pitchFamily="2" charset="-79"/>
              </a:rPr>
              <a:t> </a:t>
            </a:r>
            <a:r>
              <a:rPr lang="en-US" sz="2000" dirty="0">
                <a:effectLst>
                  <a:outerShdw blurRad="38100" dist="38100" dir="2700000" algn="tl">
                    <a:srgbClr val="000000">
                      <a:alpha val="43137"/>
                    </a:srgbClr>
                  </a:outerShdw>
                </a:effectLst>
                <a:latin typeface="Arial Rounded MT Bold" panose="020F0704030504030204" pitchFamily="34" charset="0"/>
                <a:cs typeface="Aharoni" panose="02010803020104030203" pitchFamily="2" charset="-79"/>
              </a:rPr>
              <a:t>Suman</a:t>
            </a:r>
            <a:r>
              <a:rPr kumimoji="0" lang="en-US" sz="2000" i="0" u="none" strike="noStrike" kern="1200" cap="none" spc="0" normalizeH="0" baseline="0" noProof="0" dirty="0">
                <a:ln>
                  <a:noFill/>
                </a:ln>
                <a:effectLst>
                  <a:outerShdw blurRad="38100" dist="38100" dir="2700000" algn="tl">
                    <a:srgbClr val="000000">
                      <a:alpha val="43137"/>
                    </a:srgbClr>
                  </a:outerShdw>
                </a:effectLst>
                <a:uLnTx/>
                <a:uFillTx/>
                <a:latin typeface="Arial Rounded MT Bold" panose="020F0704030504030204" pitchFamily="34" charset="0"/>
                <a:ea typeface="+mn-ea"/>
                <a:cs typeface="Aharoni" panose="02010803020104030203" pitchFamily="2" charset="-79"/>
              </a:rPr>
              <a:t> Educational Trust’s</a:t>
            </a:r>
            <a:endParaRPr kumimoji="0" lang="en-IN" sz="2000" i="0" u="none" strike="noStrike" kern="1200" cap="none" spc="0" normalizeH="0" baseline="0" noProof="0" dirty="0">
              <a:ln>
                <a:noFill/>
              </a:ln>
              <a:effectLst>
                <a:outerShdw blurRad="38100" dist="38100" dir="2700000" algn="tl">
                  <a:srgbClr val="000000">
                    <a:alpha val="43137"/>
                  </a:srgbClr>
                </a:outerShdw>
              </a:effectLst>
              <a:uLnTx/>
              <a:uFillTx/>
              <a:latin typeface="Arial Rounded MT Bold" panose="020F0704030504030204" pitchFamily="34" charset="0"/>
              <a:ea typeface="+mn-ea"/>
              <a:cs typeface="Aharoni" panose="02010803020104030203" pitchFamily="2" charset="-79"/>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dirty="0" err="1">
                <a:ln>
                  <a:noFill/>
                </a:ln>
                <a:effectLst>
                  <a:outerShdw blurRad="38100" dist="38100" dir="2700000" algn="tl">
                    <a:srgbClr val="000000">
                      <a:alpha val="43137"/>
                    </a:srgbClr>
                  </a:outerShdw>
                </a:effectLst>
                <a:uLnTx/>
                <a:uFillTx/>
                <a:latin typeface="Arial Rounded MT Bold" panose="020F0704030504030204" pitchFamily="34" charset="0"/>
                <a:ea typeface="+mn-ea"/>
                <a:cs typeface="Aharoni" panose="02010803020104030203" pitchFamily="2" charset="-79"/>
              </a:rPr>
              <a:t>Dilkap</a:t>
            </a:r>
            <a:r>
              <a:rPr kumimoji="0" lang="en-US" sz="2000" i="0" u="none" strike="noStrike" kern="1200" cap="none" spc="0" normalizeH="0" baseline="0" noProof="0" dirty="0">
                <a:ln>
                  <a:noFill/>
                </a:ln>
                <a:effectLst>
                  <a:outerShdw blurRad="38100" dist="38100" dir="2700000" algn="tl">
                    <a:srgbClr val="000000">
                      <a:alpha val="43137"/>
                    </a:srgbClr>
                  </a:outerShdw>
                </a:effectLst>
                <a:uLnTx/>
                <a:uFillTx/>
                <a:latin typeface="Arial Rounded MT Bold" panose="020F0704030504030204" pitchFamily="34" charset="0"/>
                <a:ea typeface="+mn-ea"/>
                <a:cs typeface="Aharoni" panose="02010803020104030203" pitchFamily="2" charset="-79"/>
              </a:rPr>
              <a:t> Research Institute of Engineering &amp; Management Studies </a:t>
            </a:r>
            <a:r>
              <a:rPr kumimoji="0" lang="en-US" sz="2000" i="0" u="none" strike="noStrike" kern="1200" cap="none" spc="0" normalizeH="0" baseline="0" noProof="0" dirty="0" err="1">
                <a:ln>
                  <a:noFill/>
                </a:ln>
                <a:effectLst>
                  <a:outerShdw blurRad="38100" dist="38100" dir="2700000" algn="tl">
                    <a:srgbClr val="000000">
                      <a:alpha val="43137"/>
                    </a:srgbClr>
                  </a:outerShdw>
                </a:effectLst>
                <a:uLnTx/>
                <a:uFillTx/>
                <a:latin typeface="Arial Rounded MT Bold" panose="020F0704030504030204" pitchFamily="34" charset="0"/>
                <a:ea typeface="+mn-ea"/>
                <a:cs typeface="Aharoni" panose="02010803020104030203" pitchFamily="2" charset="-79"/>
              </a:rPr>
              <a:t>Mamdapur</a:t>
            </a:r>
            <a:r>
              <a:rPr kumimoji="0" lang="en-US" sz="2000" i="0" u="none" strike="noStrike" kern="1200" cap="none" spc="0" normalizeH="0" baseline="0" noProof="0" dirty="0">
                <a:ln>
                  <a:noFill/>
                </a:ln>
                <a:effectLst>
                  <a:outerShdw blurRad="38100" dist="38100" dir="2700000" algn="tl">
                    <a:srgbClr val="000000">
                      <a:alpha val="43137"/>
                    </a:srgbClr>
                  </a:outerShdw>
                </a:effectLst>
                <a:uLnTx/>
                <a:uFillTx/>
                <a:latin typeface="Arial Rounded MT Bold" panose="020F0704030504030204" pitchFamily="34" charset="0"/>
                <a:ea typeface="+mn-ea"/>
                <a:cs typeface="Aharoni" panose="02010803020104030203" pitchFamily="2" charset="-79"/>
              </a:rPr>
              <a:t>, Post: </a:t>
            </a:r>
            <a:r>
              <a:rPr kumimoji="0" lang="en-US" sz="2000" i="0" u="none" strike="noStrike" kern="1200" cap="none" spc="0" normalizeH="0" baseline="0" noProof="0" dirty="0" err="1">
                <a:ln>
                  <a:noFill/>
                </a:ln>
                <a:effectLst>
                  <a:outerShdw blurRad="38100" dist="38100" dir="2700000" algn="tl">
                    <a:srgbClr val="000000">
                      <a:alpha val="43137"/>
                    </a:srgbClr>
                  </a:outerShdw>
                </a:effectLst>
                <a:uLnTx/>
                <a:uFillTx/>
                <a:latin typeface="Arial Rounded MT Bold" panose="020F0704030504030204" pitchFamily="34" charset="0"/>
                <a:ea typeface="+mn-ea"/>
                <a:cs typeface="Aharoni" panose="02010803020104030203" pitchFamily="2" charset="-79"/>
              </a:rPr>
              <a:t>Neral</a:t>
            </a:r>
            <a:r>
              <a:rPr kumimoji="0" lang="en-US" sz="2000" i="0" u="none" strike="noStrike" kern="1200" cap="none" spc="0" normalizeH="0" baseline="0" noProof="0" dirty="0">
                <a:ln>
                  <a:noFill/>
                </a:ln>
                <a:effectLst>
                  <a:outerShdw blurRad="38100" dist="38100" dir="2700000" algn="tl">
                    <a:srgbClr val="000000">
                      <a:alpha val="43137"/>
                    </a:srgbClr>
                  </a:outerShdw>
                </a:effectLst>
                <a:uLnTx/>
                <a:uFillTx/>
                <a:latin typeface="Arial Rounded MT Bold" panose="020F0704030504030204" pitchFamily="34" charset="0"/>
                <a:ea typeface="+mn-ea"/>
                <a:cs typeface="Aharoni" panose="02010803020104030203" pitchFamily="2" charset="-79"/>
              </a:rPr>
              <a:t>, Taluka: </a:t>
            </a:r>
            <a:r>
              <a:rPr kumimoji="0" lang="en-US" sz="2000" i="0" u="none" strike="noStrike" kern="1200" cap="none" spc="0" normalizeH="0" baseline="0" noProof="0" dirty="0" err="1">
                <a:ln>
                  <a:noFill/>
                </a:ln>
                <a:effectLst>
                  <a:outerShdw blurRad="38100" dist="38100" dir="2700000" algn="tl">
                    <a:srgbClr val="000000">
                      <a:alpha val="43137"/>
                    </a:srgbClr>
                  </a:outerShdw>
                </a:effectLst>
                <a:uLnTx/>
                <a:uFillTx/>
                <a:latin typeface="Arial Rounded MT Bold" panose="020F0704030504030204" pitchFamily="34" charset="0"/>
                <a:ea typeface="+mn-ea"/>
                <a:cs typeface="Aharoni" panose="02010803020104030203" pitchFamily="2" charset="-79"/>
              </a:rPr>
              <a:t>Karjat</a:t>
            </a:r>
            <a:r>
              <a:rPr kumimoji="0" lang="en-US" sz="2000" i="0" u="none" strike="noStrike" kern="1200" cap="none" spc="0" normalizeH="0" baseline="0" noProof="0" dirty="0">
                <a:ln>
                  <a:noFill/>
                </a:ln>
                <a:effectLst>
                  <a:outerShdw blurRad="38100" dist="38100" dir="2700000" algn="tl">
                    <a:srgbClr val="000000">
                      <a:alpha val="43137"/>
                    </a:srgbClr>
                  </a:outerShdw>
                </a:effectLst>
                <a:uLnTx/>
                <a:uFillTx/>
                <a:latin typeface="Arial Rounded MT Bold" panose="020F0704030504030204" pitchFamily="34" charset="0"/>
                <a:ea typeface="+mn-ea"/>
                <a:cs typeface="Aharoni" panose="02010803020104030203" pitchFamily="2" charset="-79"/>
              </a:rPr>
              <a:t>, Dist.: Raigad-410101   University of Mumbai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dirty="0">
                <a:ln>
                  <a:noFill/>
                </a:ln>
                <a:effectLst>
                  <a:outerShdw blurRad="38100" dist="38100" dir="2700000" algn="tl">
                    <a:srgbClr val="000000">
                      <a:alpha val="43137"/>
                    </a:srgbClr>
                  </a:outerShdw>
                </a:effectLst>
                <a:uLnTx/>
                <a:uFillTx/>
                <a:latin typeface="Arial Rounded MT Bold" panose="020F0704030504030204" pitchFamily="34" charset="0"/>
                <a:ea typeface="+mn-ea"/>
                <a:cs typeface="Aharoni" panose="02010803020104030203" pitchFamily="2" charset="-79"/>
              </a:rPr>
              <a:t>Academic Year 2025-26</a:t>
            </a:r>
            <a:endParaRPr kumimoji="0" lang="en-IN" sz="2000" i="0" u="none" strike="noStrike" kern="1200" cap="none" spc="0" normalizeH="0" baseline="0" noProof="0" dirty="0">
              <a:ln>
                <a:noFill/>
              </a:ln>
              <a:effectLst>
                <a:outerShdw blurRad="38100" dist="38100" dir="2700000" algn="tl">
                  <a:srgbClr val="000000">
                    <a:alpha val="43137"/>
                  </a:srgbClr>
                </a:outerShdw>
              </a:effectLst>
              <a:uLnTx/>
              <a:uFillTx/>
              <a:latin typeface="Arial Rounded MT Bold" panose="020F0704030504030204" pitchFamily="34" charset="0"/>
              <a:ea typeface="+mn-ea"/>
              <a:cs typeface="Aharoni" panose="02010803020104030203" pitchFamily="2" charset="-79"/>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i="0" u="none" strike="noStrike" kern="1200" cap="none" spc="0" normalizeH="0" baseline="0" noProof="0" dirty="0">
              <a:ln>
                <a:noFill/>
              </a:ln>
              <a:effectLst>
                <a:outerShdw blurRad="38100" dist="38100" dir="2700000" algn="tl">
                  <a:srgbClr val="000000">
                    <a:alpha val="43137"/>
                  </a:srgbClr>
                </a:outerShdw>
              </a:effectLst>
              <a:uLnTx/>
              <a:uFillTx/>
              <a:latin typeface="Arial Rounded MT Bold" panose="020F0704030504030204" pitchFamily="34" charset="0"/>
              <a:ea typeface="+mn-ea"/>
              <a:cs typeface="Aharoni" panose="02010803020104030203" pitchFamily="2" charset="-79"/>
            </a:endParaRPr>
          </a:p>
        </p:txBody>
      </p:sp>
      <p:pic>
        <p:nvPicPr>
          <p:cNvPr id="21" name="Picture 20">
            <a:extLst>
              <a:ext uri="{FF2B5EF4-FFF2-40B4-BE49-F238E27FC236}">
                <a16:creationId xmlns:a16="http://schemas.microsoft.com/office/drawing/2014/main" id="{EE5DCB9F-23C5-BAAF-86B6-814E057CA6A4}"/>
              </a:ext>
            </a:extLst>
          </p:cNvPr>
          <p:cNvPicPr>
            <a:picLocks noChangeAspect="1"/>
          </p:cNvPicPr>
          <p:nvPr/>
        </p:nvPicPr>
        <p:blipFill>
          <a:blip r:embed="rId3"/>
          <a:stretch>
            <a:fillRect/>
          </a:stretch>
        </p:blipFill>
        <p:spPr>
          <a:xfrm>
            <a:off x="387435" y="33817"/>
            <a:ext cx="1895475" cy="2005478"/>
          </a:xfrm>
          <a:prstGeom prst="rect">
            <a:avLst/>
          </a:prstGeom>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1F3D8-D9B1-3666-A868-C46A3DC47C0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F95C52A-28F0-190B-47A3-82E6CA40F3B6}"/>
              </a:ext>
            </a:extLst>
          </p:cNvPr>
          <p:cNvSpPr/>
          <p:nvPr/>
        </p:nvSpPr>
        <p:spPr>
          <a:xfrm>
            <a:off x="0" y="0"/>
            <a:ext cx="12191695" cy="1463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243EC352-3101-5C90-351D-54BF97E9D98B}"/>
              </a:ext>
            </a:extLst>
          </p:cNvPr>
          <p:cNvSpPr/>
          <p:nvPr/>
        </p:nvSpPr>
        <p:spPr>
          <a:xfrm>
            <a:off x="9784080" y="-868680"/>
            <a:ext cx="3200400" cy="32004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A83B2067-91A2-D11C-D44D-3CE02B20DFA9}"/>
              </a:ext>
            </a:extLst>
          </p:cNvPr>
          <p:cNvSpPr/>
          <p:nvPr/>
        </p:nvSpPr>
        <p:spPr>
          <a:xfrm>
            <a:off x="9966960" y="4937760"/>
            <a:ext cx="2468880" cy="24688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866872E6-1536-7FD7-BABC-A16B8C32F1C0}"/>
              </a:ext>
            </a:extLst>
          </p:cNvPr>
          <p:cNvSpPr/>
          <p:nvPr/>
        </p:nvSpPr>
        <p:spPr>
          <a:xfrm>
            <a:off x="10469880" y="310896"/>
            <a:ext cx="109728" cy="1645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DCB8DC19-66C0-8FC2-94C8-D886A66EA2E3}"/>
              </a:ext>
            </a:extLst>
          </p:cNvPr>
          <p:cNvSpPr/>
          <p:nvPr/>
        </p:nvSpPr>
        <p:spPr>
          <a:xfrm>
            <a:off x="10634472" y="182880"/>
            <a:ext cx="10972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0EEFB763-3D7C-F792-5F90-CA260EDF2815}"/>
              </a:ext>
            </a:extLst>
          </p:cNvPr>
          <p:cNvSpPr/>
          <p:nvPr/>
        </p:nvSpPr>
        <p:spPr>
          <a:xfrm>
            <a:off x="10799063" y="64008"/>
            <a:ext cx="109728" cy="4114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E8CE1044-D2BA-2589-B03D-3190ED1F2D53}"/>
              </a:ext>
            </a:extLst>
          </p:cNvPr>
          <p:cNvSpPr/>
          <p:nvPr/>
        </p:nvSpPr>
        <p:spPr>
          <a:xfrm>
            <a:off x="10963655" y="0"/>
            <a:ext cx="109728" cy="4754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98C541C3-D952-193E-F156-837E5F4A607A}"/>
              </a:ext>
            </a:extLst>
          </p:cNvPr>
          <p:cNvSpPr txBox="1"/>
          <p:nvPr/>
        </p:nvSpPr>
        <p:spPr>
          <a:xfrm>
            <a:off x="640080" y="384048"/>
            <a:ext cx="9235440" cy="615553"/>
          </a:xfrm>
          <a:prstGeom prst="rect">
            <a:avLst/>
          </a:prstGeom>
          <a:noFill/>
        </p:spPr>
        <p:txBody>
          <a:bodyPr wrap="square" anchor="t">
            <a:spAutoFit/>
          </a:bodyPr>
          <a:lstStyle/>
          <a:p>
            <a:pPr algn="l"/>
            <a:r>
              <a:rPr lang="en-US" sz="3400" b="1" dirty="0">
                <a:solidFill>
                  <a:srgbClr val="112646"/>
                </a:solidFill>
                <a:latin typeface="Segoe UI"/>
              </a:rPr>
              <a:t>Welcome</a:t>
            </a:r>
            <a:endParaRPr sz="3400" b="1" dirty="0">
              <a:solidFill>
                <a:srgbClr val="112646"/>
              </a:solidFill>
              <a:latin typeface="Segoe UI"/>
            </a:endParaRPr>
          </a:p>
        </p:txBody>
      </p:sp>
      <p:sp>
        <p:nvSpPr>
          <p:cNvPr id="21" name="TextBox 20">
            <a:extLst>
              <a:ext uri="{FF2B5EF4-FFF2-40B4-BE49-F238E27FC236}">
                <a16:creationId xmlns:a16="http://schemas.microsoft.com/office/drawing/2014/main" id="{EFCBE26C-61D0-316C-ECCB-AE9D3B7EFF37}"/>
              </a:ext>
            </a:extLst>
          </p:cNvPr>
          <p:cNvSpPr txBox="1"/>
          <p:nvPr/>
        </p:nvSpPr>
        <p:spPr>
          <a:xfrm>
            <a:off x="1303506" y="1887166"/>
            <a:ext cx="8572014" cy="3416320"/>
          </a:xfrm>
          <a:prstGeom prst="rect">
            <a:avLst/>
          </a:prstGeom>
          <a:noFill/>
        </p:spPr>
        <p:txBody>
          <a:bodyPr wrap="square" rtlCol="0">
            <a:spAutoFit/>
          </a:bodyPr>
          <a:lstStyle/>
          <a:p>
            <a:r>
              <a:rPr lang="en-US" sz="2400" dirty="0"/>
              <a:t>We are pleased to present our mini project on the Expense Tracker System.</a:t>
            </a:r>
          </a:p>
          <a:p>
            <a:endParaRPr lang="en-US" sz="2400" dirty="0"/>
          </a:p>
          <a:p>
            <a:r>
              <a:rPr lang="en-US" sz="2400" dirty="0"/>
              <a:t>This is a web-based application developed to help users to manage and monitor their daily expenses efficiently.</a:t>
            </a:r>
          </a:p>
          <a:p>
            <a:endParaRPr lang="en-US" sz="2400" dirty="0"/>
          </a:p>
          <a:p>
            <a:r>
              <a:rPr lang="en-US" sz="2400" dirty="0"/>
              <a:t>In this presentation, we will explain the problem of manual expense tracking and how our system provides a simple and effective solution.</a:t>
            </a:r>
            <a:endParaRPr lang="en-IN" sz="2400" dirty="0"/>
          </a:p>
        </p:txBody>
      </p:sp>
    </p:spTree>
    <p:extLst>
      <p:ext uri="{BB962C8B-B14F-4D97-AF65-F5344CB8AC3E}">
        <p14:creationId xmlns:p14="http://schemas.microsoft.com/office/powerpoint/2010/main" val="2865117143"/>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728"/>
            <a:ext cx="12191695"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91695" cy="1463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868680"/>
            <a:ext cx="3200400" cy="32004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966960" y="4937760"/>
            <a:ext cx="2468880" cy="24688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469880" y="310896"/>
            <a:ext cx="109728" cy="1645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634472" y="182880"/>
            <a:ext cx="10972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799063" y="64008"/>
            <a:ext cx="109728" cy="4114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63655" y="219456"/>
            <a:ext cx="10972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84048"/>
            <a:ext cx="9235440" cy="749808"/>
          </a:xfrm>
          <a:prstGeom prst="rect">
            <a:avLst/>
          </a:prstGeom>
          <a:noFill/>
        </p:spPr>
        <p:txBody>
          <a:bodyPr wrap="square" anchor="t">
            <a:spAutoFit/>
          </a:bodyPr>
          <a:lstStyle/>
          <a:p>
            <a:pPr algn="l"/>
            <a:r>
              <a:rPr sz="3400" b="1" dirty="0">
                <a:solidFill>
                  <a:srgbClr val="112646"/>
                </a:solidFill>
                <a:latin typeface="Segoe UI"/>
              </a:rPr>
              <a:t>Introduction</a:t>
            </a:r>
          </a:p>
        </p:txBody>
      </p:sp>
      <p:sp>
        <p:nvSpPr>
          <p:cNvPr id="13" name="TextBox 12"/>
          <p:cNvSpPr txBox="1"/>
          <p:nvPr/>
        </p:nvSpPr>
        <p:spPr>
          <a:xfrm>
            <a:off x="618485" y="1693182"/>
            <a:ext cx="10125715" cy="4708981"/>
          </a:xfrm>
          <a:prstGeom prst="rect">
            <a:avLst/>
          </a:prstGeom>
          <a:noFill/>
        </p:spPr>
        <p:txBody>
          <a:bodyPr wrap="square" anchor="t">
            <a:spAutoFit/>
          </a:bodyPr>
          <a:lstStyle/>
          <a:p>
            <a:r>
              <a:rPr lang="en-US" sz="2000" dirty="0"/>
              <a:t>In today’s digital era, effective financial management is essential for maintaining economic stability and financial discipline. However, many individuals still rely on manual methods such as notebooks or basic mobile notes to track their daily expenses.</a:t>
            </a:r>
          </a:p>
          <a:p>
            <a:endParaRPr lang="en-US" sz="2000" dirty="0"/>
          </a:p>
          <a:p>
            <a:r>
              <a:rPr lang="en-US" sz="2000" b="1" dirty="0"/>
              <a:t>Manual tracking methods often lead to:</a:t>
            </a:r>
          </a:p>
          <a:p>
            <a:r>
              <a:rPr lang="en-US" sz="2000" dirty="0"/>
              <a:t>• Inconsistent record keeping</a:t>
            </a:r>
            <a:br>
              <a:rPr lang="en-US" sz="2000" dirty="0"/>
            </a:br>
            <a:r>
              <a:rPr lang="en-US" sz="2000" dirty="0"/>
              <a:t>• Difficulty in analyzing monthly spending patterns</a:t>
            </a:r>
            <a:br>
              <a:rPr lang="en-US" sz="2000" dirty="0"/>
            </a:br>
            <a:r>
              <a:rPr lang="en-US" sz="2000" dirty="0"/>
              <a:t>• Lack of financial awareness</a:t>
            </a:r>
            <a:br>
              <a:rPr lang="en-US" sz="2000" dirty="0"/>
            </a:br>
            <a:r>
              <a:rPr lang="en-US" sz="2000" dirty="0"/>
              <a:t>• Increased chances of overspending</a:t>
            </a:r>
          </a:p>
          <a:p>
            <a:endParaRPr lang="en-US" sz="2000" dirty="0"/>
          </a:p>
          <a:p>
            <a:r>
              <a:rPr lang="en-US" sz="2000" dirty="0"/>
              <a:t>To address these challenges, a web-based </a:t>
            </a:r>
            <a:r>
              <a:rPr lang="en-US" sz="2000" b="1" dirty="0"/>
              <a:t>Expense Tracker System</a:t>
            </a:r>
            <a:r>
              <a:rPr lang="en-US" sz="2000" dirty="0"/>
              <a:t> is proposed. The system provides a structured platform for recording, categorizing, and monitoring daily expenses efficiently. It enables users to analyze their spending behavior and make informed financial decisions.</a:t>
            </a:r>
          </a:p>
          <a:p>
            <a:endParaRPr lang="en-US" sz="2000" dirty="0">
              <a:solidFill>
                <a:srgbClr val="2C3E50"/>
              </a:solidFill>
              <a:latin typeface="Segoe U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868680"/>
            <a:ext cx="3200400" cy="32004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966960" y="4937760"/>
            <a:ext cx="2468880" cy="24688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469880" y="310896"/>
            <a:ext cx="109728" cy="1645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634472" y="182880"/>
            <a:ext cx="10972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799063" y="64008"/>
            <a:ext cx="109728" cy="4114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63655" y="219456"/>
            <a:ext cx="10972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84048"/>
            <a:ext cx="9235440" cy="749808"/>
          </a:xfrm>
          <a:prstGeom prst="rect">
            <a:avLst/>
          </a:prstGeom>
          <a:noFill/>
        </p:spPr>
        <p:txBody>
          <a:bodyPr wrap="square" anchor="t">
            <a:spAutoFit/>
          </a:bodyPr>
          <a:lstStyle/>
          <a:p>
            <a:pPr algn="l"/>
            <a:r>
              <a:rPr sz="3400" b="1">
                <a:solidFill>
                  <a:srgbClr val="112646"/>
                </a:solidFill>
                <a:latin typeface="Segoe UI"/>
              </a:rPr>
              <a:t>Objectives</a:t>
            </a:r>
          </a:p>
        </p:txBody>
      </p:sp>
      <p:sp>
        <p:nvSpPr>
          <p:cNvPr id="11" name="Oval 10"/>
          <p:cNvSpPr/>
          <p:nvPr/>
        </p:nvSpPr>
        <p:spPr>
          <a:xfrm>
            <a:off x="822960" y="1865376"/>
            <a:ext cx="274320" cy="27432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1883664"/>
            <a:ext cx="128016" cy="246221"/>
          </a:xfrm>
          <a:prstGeom prst="rect">
            <a:avLst/>
          </a:prstGeom>
          <a:noFill/>
        </p:spPr>
        <p:txBody>
          <a:bodyPr wrap="square" anchor="t">
            <a:spAutoFit/>
          </a:bodyPr>
          <a:lstStyle/>
          <a:p>
            <a:pPr algn="ctr"/>
            <a:endParaRPr sz="1000" b="1" dirty="0">
              <a:solidFill>
                <a:srgbClr val="FFFFFF"/>
              </a:solidFill>
              <a:latin typeface="Segoe UI"/>
            </a:endParaRPr>
          </a:p>
        </p:txBody>
      </p:sp>
      <p:sp>
        <p:nvSpPr>
          <p:cNvPr id="13" name="TextBox 12"/>
          <p:cNvSpPr txBox="1"/>
          <p:nvPr/>
        </p:nvSpPr>
        <p:spPr>
          <a:xfrm>
            <a:off x="1207008" y="1828800"/>
            <a:ext cx="10332720" cy="411480"/>
          </a:xfrm>
          <a:prstGeom prst="rect">
            <a:avLst/>
          </a:prstGeom>
          <a:noFill/>
        </p:spPr>
        <p:txBody>
          <a:bodyPr wrap="square" anchor="t">
            <a:spAutoFit/>
          </a:bodyPr>
          <a:lstStyle/>
          <a:p>
            <a:pPr algn="l"/>
            <a:r>
              <a:rPr sz="1800" b="0">
                <a:solidFill>
                  <a:srgbClr val="2E4055"/>
                </a:solidFill>
                <a:latin typeface="Segoe UI"/>
              </a:rPr>
              <a:t>To record daily expenses efficiently.</a:t>
            </a:r>
          </a:p>
        </p:txBody>
      </p:sp>
      <p:sp>
        <p:nvSpPr>
          <p:cNvPr id="14" name="Oval 13"/>
          <p:cNvSpPr/>
          <p:nvPr/>
        </p:nvSpPr>
        <p:spPr>
          <a:xfrm>
            <a:off x="822960" y="2779776"/>
            <a:ext cx="274320" cy="27432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96112" y="2798064"/>
            <a:ext cx="128016" cy="246221"/>
          </a:xfrm>
          <a:prstGeom prst="rect">
            <a:avLst/>
          </a:prstGeom>
          <a:noFill/>
        </p:spPr>
        <p:txBody>
          <a:bodyPr wrap="square" anchor="t">
            <a:spAutoFit/>
          </a:bodyPr>
          <a:lstStyle/>
          <a:p>
            <a:pPr algn="ctr"/>
            <a:endParaRPr sz="1000" b="1" dirty="0">
              <a:solidFill>
                <a:srgbClr val="FFFFFF"/>
              </a:solidFill>
              <a:latin typeface="Segoe UI"/>
            </a:endParaRPr>
          </a:p>
        </p:txBody>
      </p:sp>
      <p:sp>
        <p:nvSpPr>
          <p:cNvPr id="16" name="TextBox 15"/>
          <p:cNvSpPr txBox="1"/>
          <p:nvPr/>
        </p:nvSpPr>
        <p:spPr>
          <a:xfrm>
            <a:off x="1207008" y="2743200"/>
            <a:ext cx="10332720" cy="411480"/>
          </a:xfrm>
          <a:prstGeom prst="rect">
            <a:avLst/>
          </a:prstGeom>
          <a:noFill/>
        </p:spPr>
        <p:txBody>
          <a:bodyPr wrap="square" anchor="t">
            <a:spAutoFit/>
          </a:bodyPr>
          <a:lstStyle/>
          <a:p>
            <a:pPr algn="l"/>
            <a:r>
              <a:rPr sz="1800" b="0">
                <a:solidFill>
                  <a:srgbClr val="2E4055"/>
                </a:solidFill>
                <a:latin typeface="Segoe UI"/>
              </a:rPr>
              <a:t>To categorize expenses for better analysis.</a:t>
            </a:r>
          </a:p>
        </p:txBody>
      </p:sp>
      <p:sp>
        <p:nvSpPr>
          <p:cNvPr id="17" name="Oval 16"/>
          <p:cNvSpPr/>
          <p:nvPr/>
        </p:nvSpPr>
        <p:spPr>
          <a:xfrm>
            <a:off x="822960" y="3694176"/>
            <a:ext cx="274320" cy="27432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96112" y="3712463"/>
            <a:ext cx="128016" cy="246221"/>
          </a:xfrm>
          <a:prstGeom prst="rect">
            <a:avLst/>
          </a:prstGeom>
          <a:noFill/>
        </p:spPr>
        <p:txBody>
          <a:bodyPr wrap="square" anchor="t">
            <a:spAutoFit/>
          </a:bodyPr>
          <a:lstStyle/>
          <a:p>
            <a:pPr algn="ctr"/>
            <a:endParaRPr sz="1000" b="1" dirty="0">
              <a:solidFill>
                <a:srgbClr val="FFFFFF"/>
              </a:solidFill>
              <a:latin typeface="Segoe UI"/>
            </a:endParaRPr>
          </a:p>
        </p:txBody>
      </p:sp>
      <p:sp>
        <p:nvSpPr>
          <p:cNvPr id="19" name="TextBox 18"/>
          <p:cNvSpPr txBox="1"/>
          <p:nvPr/>
        </p:nvSpPr>
        <p:spPr>
          <a:xfrm>
            <a:off x="1207008" y="3657600"/>
            <a:ext cx="10332720" cy="411480"/>
          </a:xfrm>
          <a:prstGeom prst="rect">
            <a:avLst/>
          </a:prstGeom>
          <a:noFill/>
        </p:spPr>
        <p:txBody>
          <a:bodyPr wrap="square" anchor="t">
            <a:spAutoFit/>
          </a:bodyPr>
          <a:lstStyle/>
          <a:p>
            <a:pPr algn="l"/>
            <a:r>
              <a:rPr sz="1800" b="0">
                <a:solidFill>
                  <a:srgbClr val="2E4055"/>
                </a:solidFill>
                <a:latin typeface="Segoe UI"/>
              </a:rPr>
              <a:t>To monitor monthly spending.</a:t>
            </a:r>
          </a:p>
        </p:txBody>
      </p:sp>
      <p:sp>
        <p:nvSpPr>
          <p:cNvPr id="20" name="Oval 19"/>
          <p:cNvSpPr/>
          <p:nvPr/>
        </p:nvSpPr>
        <p:spPr>
          <a:xfrm>
            <a:off x="6309360" y="1865376"/>
            <a:ext cx="274320" cy="27432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82512" y="1883664"/>
            <a:ext cx="128016" cy="246221"/>
          </a:xfrm>
          <a:prstGeom prst="rect">
            <a:avLst/>
          </a:prstGeom>
          <a:noFill/>
        </p:spPr>
        <p:txBody>
          <a:bodyPr wrap="square" anchor="t">
            <a:spAutoFit/>
          </a:bodyPr>
          <a:lstStyle/>
          <a:p>
            <a:pPr algn="ctr"/>
            <a:endParaRPr sz="1000" b="1" dirty="0">
              <a:solidFill>
                <a:srgbClr val="FFFFFF"/>
              </a:solidFill>
              <a:latin typeface="Segoe UI"/>
            </a:endParaRPr>
          </a:p>
        </p:txBody>
      </p:sp>
      <p:sp>
        <p:nvSpPr>
          <p:cNvPr id="22" name="TextBox 21"/>
          <p:cNvSpPr txBox="1"/>
          <p:nvPr/>
        </p:nvSpPr>
        <p:spPr>
          <a:xfrm>
            <a:off x="6693408" y="1828800"/>
            <a:ext cx="10332720" cy="411480"/>
          </a:xfrm>
          <a:prstGeom prst="rect">
            <a:avLst/>
          </a:prstGeom>
          <a:noFill/>
        </p:spPr>
        <p:txBody>
          <a:bodyPr wrap="square" anchor="t">
            <a:spAutoFit/>
          </a:bodyPr>
          <a:lstStyle/>
          <a:p>
            <a:pPr algn="l"/>
            <a:r>
              <a:rPr sz="1800" b="0">
                <a:solidFill>
                  <a:srgbClr val="2E4055"/>
                </a:solidFill>
                <a:latin typeface="Segoe UI"/>
              </a:rPr>
              <a:t>To manage budget effectively.</a:t>
            </a:r>
          </a:p>
        </p:txBody>
      </p:sp>
      <p:sp>
        <p:nvSpPr>
          <p:cNvPr id="23" name="Oval 22"/>
          <p:cNvSpPr/>
          <p:nvPr/>
        </p:nvSpPr>
        <p:spPr>
          <a:xfrm>
            <a:off x="6309360" y="2779776"/>
            <a:ext cx="274320" cy="27432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82512" y="2798064"/>
            <a:ext cx="128016" cy="246221"/>
          </a:xfrm>
          <a:prstGeom prst="rect">
            <a:avLst/>
          </a:prstGeom>
          <a:noFill/>
        </p:spPr>
        <p:txBody>
          <a:bodyPr wrap="square" anchor="t">
            <a:spAutoFit/>
          </a:bodyPr>
          <a:lstStyle/>
          <a:p>
            <a:pPr algn="ctr"/>
            <a:endParaRPr sz="1000" b="1" dirty="0">
              <a:solidFill>
                <a:srgbClr val="FFFFFF"/>
              </a:solidFill>
              <a:latin typeface="Segoe UI"/>
            </a:endParaRPr>
          </a:p>
        </p:txBody>
      </p:sp>
      <p:sp>
        <p:nvSpPr>
          <p:cNvPr id="25" name="TextBox 24"/>
          <p:cNvSpPr txBox="1"/>
          <p:nvPr/>
        </p:nvSpPr>
        <p:spPr>
          <a:xfrm>
            <a:off x="6693408" y="2743200"/>
            <a:ext cx="10332720" cy="411480"/>
          </a:xfrm>
          <a:prstGeom prst="rect">
            <a:avLst/>
          </a:prstGeom>
          <a:noFill/>
        </p:spPr>
        <p:txBody>
          <a:bodyPr wrap="square" anchor="t">
            <a:spAutoFit/>
          </a:bodyPr>
          <a:lstStyle/>
          <a:p>
            <a:pPr algn="l"/>
            <a:r>
              <a:rPr sz="1800" b="0">
                <a:solidFill>
                  <a:srgbClr val="2E4055"/>
                </a:solidFill>
                <a:latin typeface="Segoe UI"/>
              </a:rPr>
              <a:t>To improve financial awareness.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700">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41A67-90CD-BED2-AFD7-4AEB65FF854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D267246-EA8D-69E7-2C94-202E5DBAB64C}"/>
              </a:ext>
            </a:extLst>
          </p:cNvPr>
          <p:cNvSpPr/>
          <p:nvPr/>
        </p:nvSpPr>
        <p:spPr>
          <a:xfrm>
            <a:off x="0" y="0"/>
            <a:ext cx="12191695"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BA8D7217-4725-D9B5-F8F3-6CA4F90A1940}"/>
              </a:ext>
            </a:extLst>
          </p:cNvPr>
          <p:cNvSpPr/>
          <p:nvPr/>
        </p:nvSpPr>
        <p:spPr>
          <a:xfrm>
            <a:off x="0" y="0"/>
            <a:ext cx="12191695" cy="1463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8119B72D-5F46-6AC1-89D2-BF71213DD9FD}"/>
              </a:ext>
            </a:extLst>
          </p:cNvPr>
          <p:cNvSpPr/>
          <p:nvPr/>
        </p:nvSpPr>
        <p:spPr>
          <a:xfrm>
            <a:off x="9784080" y="-868680"/>
            <a:ext cx="3200400" cy="32004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6A90F7BA-79D9-8648-BF43-0F9E703B3FD0}"/>
              </a:ext>
            </a:extLst>
          </p:cNvPr>
          <p:cNvSpPr/>
          <p:nvPr/>
        </p:nvSpPr>
        <p:spPr>
          <a:xfrm>
            <a:off x="9966960" y="4937760"/>
            <a:ext cx="2468880" cy="24688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C6726799-887A-B3BB-7EDC-5F32227CB3E3}"/>
              </a:ext>
            </a:extLst>
          </p:cNvPr>
          <p:cNvSpPr/>
          <p:nvPr/>
        </p:nvSpPr>
        <p:spPr>
          <a:xfrm>
            <a:off x="10469880" y="310896"/>
            <a:ext cx="109728" cy="1645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727A2A9D-F182-100F-C015-A0BDBD99B0B1}"/>
              </a:ext>
            </a:extLst>
          </p:cNvPr>
          <p:cNvSpPr/>
          <p:nvPr/>
        </p:nvSpPr>
        <p:spPr>
          <a:xfrm>
            <a:off x="10634472" y="182880"/>
            <a:ext cx="10972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47809FD2-E4CB-03E5-1526-496291553305}"/>
              </a:ext>
            </a:extLst>
          </p:cNvPr>
          <p:cNvSpPr/>
          <p:nvPr/>
        </p:nvSpPr>
        <p:spPr>
          <a:xfrm>
            <a:off x="10799063" y="64008"/>
            <a:ext cx="109728" cy="4114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901D5871-2021-A2C5-F64A-4B7140A1920D}"/>
              </a:ext>
            </a:extLst>
          </p:cNvPr>
          <p:cNvSpPr/>
          <p:nvPr/>
        </p:nvSpPr>
        <p:spPr>
          <a:xfrm>
            <a:off x="10963655" y="219456"/>
            <a:ext cx="10972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1FA18801-B2C2-A17E-4D63-E31D021C8EEC}"/>
              </a:ext>
            </a:extLst>
          </p:cNvPr>
          <p:cNvSpPr txBox="1"/>
          <p:nvPr/>
        </p:nvSpPr>
        <p:spPr>
          <a:xfrm>
            <a:off x="635000" y="381000"/>
            <a:ext cx="9232900" cy="609600"/>
          </a:xfrm>
          <a:prstGeom prst="rect">
            <a:avLst/>
          </a:prstGeom>
          <a:noFill/>
        </p:spPr>
        <p:txBody>
          <a:bodyPr wrap="square" lIns="63500" tIns="25400" rIns="63500" bIns="25400" anchor="t">
            <a:noAutofit/>
          </a:bodyPr>
          <a:lstStyle/>
          <a:p>
            <a:pPr algn="l"/>
            <a:r>
              <a:rPr lang="en-US" sz="3000" b="1" dirty="0">
                <a:solidFill>
                  <a:srgbClr val="112646"/>
                </a:solidFill>
                <a:latin typeface="Segoe UI"/>
              </a:rPr>
              <a:t>Literature Survey (Paper 1)</a:t>
            </a:r>
            <a:endParaRPr sz="3000" b="1" dirty="0">
              <a:solidFill>
                <a:srgbClr val="112646"/>
              </a:solidFill>
              <a:latin typeface="Segoe UI"/>
            </a:endParaRPr>
          </a:p>
        </p:txBody>
      </p:sp>
      <p:sp>
        <p:nvSpPr>
          <p:cNvPr id="13" name="TextBox 12">
            <a:extLst>
              <a:ext uri="{FF2B5EF4-FFF2-40B4-BE49-F238E27FC236}">
                <a16:creationId xmlns:a16="http://schemas.microsoft.com/office/drawing/2014/main" id="{A124DE99-A8C5-4FCC-47E3-EAF6AC3E622D}"/>
              </a:ext>
            </a:extLst>
          </p:cNvPr>
          <p:cNvSpPr txBox="1"/>
          <p:nvPr/>
        </p:nvSpPr>
        <p:spPr>
          <a:xfrm>
            <a:off x="761847" y="1119124"/>
            <a:ext cx="10668000" cy="660400"/>
          </a:xfrm>
          <a:prstGeom prst="rect">
            <a:avLst/>
          </a:prstGeom>
          <a:noFill/>
        </p:spPr>
        <p:txBody>
          <a:bodyPr wrap="square" lIns="63500" tIns="25400" rIns="63500" bIns="25400" anchor="t">
            <a:noAutofit/>
          </a:bodyPr>
          <a:lstStyle/>
          <a:p>
            <a:r>
              <a:rPr lang="en-US" sz="2000" b="1" dirty="0"/>
              <a:t>Design and Implementation of a Web-Based Expense Tracker System for Personal Finance Management</a:t>
            </a:r>
            <a:endParaRPr sz="2000" b="1" dirty="0">
              <a:solidFill>
                <a:srgbClr val="2E4055"/>
              </a:solidFill>
              <a:latin typeface="Segoe UI"/>
            </a:endParaRPr>
          </a:p>
        </p:txBody>
      </p:sp>
      <p:sp>
        <p:nvSpPr>
          <p:cNvPr id="16" name="TextBox 15">
            <a:extLst>
              <a:ext uri="{FF2B5EF4-FFF2-40B4-BE49-F238E27FC236}">
                <a16:creationId xmlns:a16="http://schemas.microsoft.com/office/drawing/2014/main" id="{5E61888C-5759-4EF5-F79E-CC8A0F62BAAF}"/>
              </a:ext>
            </a:extLst>
          </p:cNvPr>
          <p:cNvSpPr txBox="1"/>
          <p:nvPr/>
        </p:nvSpPr>
        <p:spPr>
          <a:xfrm>
            <a:off x="889000" y="2648203"/>
            <a:ext cx="10668000" cy="1542795"/>
          </a:xfrm>
          <a:prstGeom prst="rect">
            <a:avLst/>
          </a:prstGeom>
          <a:noFill/>
        </p:spPr>
        <p:txBody>
          <a:bodyPr wrap="square" lIns="63500" tIns="25400" rIns="63500" bIns="25400" anchor="t">
            <a:noAutofit/>
          </a:bodyPr>
          <a:lstStyle/>
          <a:p>
            <a:r>
              <a:rPr lang="en-US" dirty="0"/>
              <a:t>Key Contributions:</a:t>
            </a:r>
          </a:p>
          <a:p>
            <a:r>
              <a:rPr lang="en-US" dirty="0"/>
              <a:t>• Developed a web-based expense tracking system</a:t>
            </a:r>
          </a:p>
          <a:p>
            <a:r>
              <a:rPr lang="en-US" dirty="0"/>
              <a:t>• Implemented user authentication and secure login</a:t>
            </a:r>
          </a:p>
          <a:p>
            <a:r>
              <a:rPr lang="en-US" dirty="0"/>
              <a:t>• Provided expense categorization and report generation</a:t>
            </a:r>
          </a:p>
          <a:p>
            <a:r>
              <a:rPr lang="en-US" dirty="0"/>
              <a:t>• Designed dashboard for financial monitoring</a:t>
            </a:r>
            <a:endParaRPr b="0" dirty="0">
              <a:solidFill>
                <a:srgbClr val="2E4055"/>
              </a:solidFill>
              <a:latin typeface="Segoe UI"/>
            </a:endParaRPr>
          </a:p>
        </p:txBody>
      </p:sp>
      <p:sp>
        <p:nvSpPr>
          <p:cNvPr id="19" name="TextBox 18">
            <a:extLst>
              <a:ext uri="{FF2B5EF4-FFF2-40B4-BE49-F238E27FC236}">
                <a16:creationId xmlns:a16="http://schemas.microsoft.com/office/drawing/2014/main" id="{392A7B55-BD62-5EB4-8BEC-5AEBECEB1437}"/>
              </a:ext>
            </a:extLst>
          </p:cNvPr>
          <p:cNvSpPr txBox="1"/>
          <p:nvPr/>
        </p:nvSpPr>
        <p:spPr>
          <a:xfrm>
            <a:off x="889000" y="4254168"/>
            <a:ext cx="10668000" cy="1092200"/>
          </a:xfrm>
          <a:prstGeom prst="rect">
            <a:avLst/>
          </a:prstGeom>
          <a:noFill/>
        </p:spPr>
        <p:txBody>
          <a:bodyPr wrap="square" lIns="63500" tIns="25400" rIns="63500" bIns="25400" anchor="t">
            <a:noAutofit/>
          </a:bodyPr>
          <a:lstStyle/>
          <a:p>
            <a:r>
              <a:rPr lang="en-US" dirty="0"/>
              <a:t>Limitations:</a:t>
            </a:r>
          </a:p>
          <a:p>
            <a:r>
              <a:rPr lang="en-US" dirty="0"/>
              <a:t>  • Limited discussion on scalability</a:t>
            </a:r>
          </a:p>
          <a:p>
            <a:r>
              <a:rPr lang="en-US" dirty="0"/>
              <a:t>  • No advanced predictive analytics</a:t>
            </a:r>
          </a:p>
          <a:p>
            <a:r>
              <a:rPr lang="en-US" dirty="0"/>
              <a:t>  • Basic visualization features</a:t>
            </a:r>
            <a:endParaRPr b="0" dirty="0">
              <a:solidFill>
                <a:srgbClr val="2E4055"/>
              </a:solidFill>
              <a:latin typeface="Segoe UI"/>
            </a:endParaRPr>
          </a:p>
        </p:txBody>
      </p:sp>
      <p:sp>
        <p:nvSpPr>
          <p:cNvPr id="22" name="TextBox 21">
            <a:extLst>
              <a:ext uri="{FF2B5EF4-FFF2-40B4-BE49-F238E27FC236}">
                <a16:creationId xmlns:a16="http://schemas.microsoft.com/office/drawing/2014/main" id="{ADFFC20C-08A4-A1BE-D23C-F544CF86162F}"/>
              </a:ext>
            </a:extLst>
          </p:cNvPr>
          <p:cNvSpPr txBox="1"/>
          <p:nvPr/>
        </p:nvSpPr>
        <p:spPr>
          <a:xfrm>
            <a:off x="889000" y="1880735"/>
            <a:ext cx="10668000" cy="660400"/>
          </a:xfrm>
          <a:prstGeom prst="rect">
            <a:avLst/>
          </a:prstGeom>
          <a:noFill/>
        </p:spPr>
        <p:txBody>
          <a:bodyPr wrap="square" lIns="63500" tIns="25400" rIns="63500" bIns="25400" anchor="t">
            <a:noAutofit/>
          </a:bodyPr>
          <a:lstStyle/>
          <a:p>
            <a:r>
              <a:rPr lang="en-US" sz="2000" dirty="0"/>
              <a:t>Authors: S. Jha, P. Jha, R. Singh, S. Kumari, Lokesh</a:t>
            </a:r>
          </a:p>
          <a:p>
            <a:r>
              <a:rPr lang="en-US" sz="2000" dirty="0"/>
              <a:t>Published In: International Journal of Research in Engineering &amp; Science (IJRES), 2025</a:t>
            </a:r>
            <a:endParaRPr sz="2000" b="0" dirty="0">
              <a:solidFill>
                <a:srgbClr val="2E4055"/>
              </a:solidFill>
              <a:latin typeface="Segoe UI"/>
            </a:endParaRPr>
          </a:p>
        </p:txBody>
      </p:sp>
      <p:sp>
        <p:nvSpPr>
          <p:cNvPr id="25" name="TextBox 24">
            <a:extLst>
              <a:ext uri="{FF2B5EF4-FFF2-40B4-BE49-F238E27FC236}">
                <a16:creationId xmlns:a16="http://schemas.microsoft.com/office/drawing/2014/main" id="{28AB5A59-2B44-4A13-43CE-939F5B4137AD}"/>
              </a:ext>
            </a:extLst>
          </p:cNvPr>
          <p:cNvSpPr txBox="1"/>
          <p:nvPr/>
        </p:nvSpPr>
        <p:spPr>
          <a:xfrm>
            <a:off x="889000" y="5428994"/>
            <a:ext cx="10668000" cy="1092200"/>
          </a:xfrm>
          <a:prstGeom prst="rect">
            <a:avLst/>
          </a:prstGeom>
          <a:noFill/>
        </p:spPr>
        <p:txBody>
          <a:bodyPr wrap="square" lIns="63500" tIns="25400" rIns="63500" bIns="25400" anchor="t">
            <a:noAutofit/>
          </a:bodyPr>
          <a:lstStyle/>
          <a:p>
            <a:r>
              <a:rPr lang="en-US" dirty="0"/>
              <a:t>Relevance to Our Project:</a:t>
            </a:r>
          </a:p>
          <a:p>
            <a:r>
              <a:rPr lang="en-US" dirty="0"/>
              <a:t>• Inspired structured web-based architecture</a:t>
            </a:r>
          </a:p>
          <a:p>
            <a:r>
              <a:rPr lang="en-US" dirty="0"/>
              <a:t>• Helped identify importance of dashboard monitoring</a:t>
            </a:r>
            <a:endParaRPr b="0" dirty="0">
              <a:solidFill>
                <a:srgbClr val="2E4055"/>
              </a:solidFill>
              <a:latin typeface="Segoe UI"/>
            </a:endParaRPr>
          </a:p>
        </p:txBody>
      </p:sp>
    </p:spTree>
    <p:extLst>
      <p:ext uri="{BB962C8B-B14F-4D97-AF65-F5344CB8AC3E}">
        <p14:creationId xmlns:p14="http://schemas.microsoft.com/office/powerpoint/2010/main" val="2664453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41A67-90CD-BED2-AFD7-4AEB65FF854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D267246-EA8D-69E7-2C94-202E5DBAB64C}"/>
              </a:ext>
            </a:extLst>
          </p:cNvPr>
          <p:cNvSpPr/>
          <p:nvPr/>
        </p:nvSpPr>
        <p:spPr>
          <a:xfrm>
            <a:off x="0" y="0"/>
            <a:ext cx="12191695"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BA8D7217-4725-D9B5-F8F3-6CA4F90A1940}"/>
              </a:ext>
            </a:extLst>
          </p:cNvPr>
          <p:cNvSpPr/>
          <p:nvPr/>
        </p:nvSpPr>
        <p:spPr>
          <a:xfrm>
            <a:off x="0" y="0"/>
            <a:ext cx="12191695" cy="1463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8119B72D-5F46-6AC1-89D2-BF71213DD9FD}"/>
              </a:ext>
            </a:extLst>
          </p:cNvPr>
          <p:cNvSpPr/>
          <p:nvPr/>
        </p:nvSpPr>
        <p:spPr>
          <a:xfrm>
            <a:off x="9784080" y="-868680"/>
            <a:ext cx="3200400" cy="32004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6A90F7BA-79D9-8648-BF43-0F9E703B3FD0}"/>
              </a:ext>
            </a:extLst>
          </p:cNvPr>
          <p:cNvSpPr/>
          <p:nvPr/>
        </p:nvSpPr>
        <p:spPr>
          <a:xfrm>
            <a:off x="9966960" y="4937760"/>
            <a:ext cx="2468880" cy="24688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C6726799-887A-B3BB-7EDC-5F32227CB3E3}"/>
              </a:ext>
            </a:extLst>
          </p:cNvPr>
          <p:cNvSpPr/>
          <p:nvPr/>
        </p:nvSpPr>
        <p:spPr>
          <a:xfrm>
            <a:off x="10469880" y="310896"/>
            <a:ext cx="109728" cy="1645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727A2A9D-F182-100F-C015-A0BDBD99B0B1}"/>
              </a:ext>
            </a:extLst>
          </p:cNvPr>
          <p:cNvSpPr/>
          <p:nvPr/>
        </p:nvSpPr>
        <p:spPr>
          <a:xfrm>
            <a:off x="10634472" y="182880"/>
            <a:ext cx="10972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47809FD2-E4CB-03E5-1526-496291553305}"/>
              </a:ext>
            </a:extLst>
          </p:cNvPr>
          <p:cNvSpPr/>
          <p:nvPr/>
        </p:nvSpPr>
        <p:spPr>
          <a:xfrm>
            <a:off x="10799063" y="64008"/>
            <a:ext cx="109728" cy="4114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901D5871-2021-A2C5-F64A-4B7140A1920D}"/>
              </a:ext>
            </a:extLst>
          </p:cNvPr>
          <p:cNvSpPr/>
          <p:nvPr/>
        </p:nvSpPr>
        <p:spPr>
          <a:xfrm>
            <a:off x="10963655" y="219456"/>
            <a:ext cx="10972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1FA18801-B2C2-A17E-4D63-E31D021C8EEC}"/>
              </a:ext>
            </a:extLst>
          </p:cNvPr>
          <p:cNvSpPr txBox="1"/>
          <p:nvPr/>
        </p:nvSpPr>
        <p:spPr>
          <a:xfrm>
            <a:off x="635000" y="381000"/>
            <a:ext cx="9232900" cy="609600"/>
          </a:xfrm>
          <a:prstGeom prst="rect">
            <a:avLst/>
          </a:prstGeom>
          <a:noFill/>
        </p:spPr>
        <p:txBody>
          <a:bodyPr wrap="square" lIns="63500" tIns="25400" rIns="63500" bIns="25400" anchor="t">
            <a:noAutofit/>
          </a:bodyPr>
          <a:lstStyle/>
          <a:p>
            <a:pPr algn="l"/>
            <a:r>
              <a:rPr lang="en-US" sz="3000" b="1">
                <a:solidFill>
                  <a:srgbClr val="112646"/>
                </a:solidFill>
                <a:latin typeface="Segoe UI"/>
              </a:rPr>
              <a:t>Literature Survey (Paper 2)</a:t>
            </a:r>
            <a:endParaRPr sz="3000" b="1" dirty="0">
              <a:solidFill>
                <a:srgbClr val="112646"/>
              </a:solidFill>
              <a:latin typeface="Segoe UI"/>
            </a:endParaRPr>
          </a:p>
        </p:txBody>
      </p:sp>
      <p:sp>
        <p:nvSpPr>
          <p:cNvPr id="13" name="TextBox 12">
            <a:extLst>
              <a:ext uri="{FF2B5EF4-FFF2-40B4-BE49-F238E27FC236}">
                <a16:creationId xmlns:a16="http://schemas.microsoft.com/office/drawing/2014/main" id="{A124DE99-A8C5-4FCC-47E3-EAF6AC3E622D}"/>
              </a:ext>
            </a:extLst>
          </p:cNvPr>
          <p:cNvSpPr txBox="1"/>
          <p:nvPr/>
        </p:nvSpPr>
        <p:spPr>
          <a:xfrm>
            <a:off x="761847" y="1037685"/>
            <a:ext cx="10668000" cy="609600"/>
          </a:xfrm>
          <a:prstGeom prst="rect">
            <a:avLst/>
          </a:prstGeom>
          <a:noFill/>
        </p:spPr>
        <p:txBody>
          <a:bodyPr wrap="square" lIns="63500" tIns="25400" rIns="63500" bIns="25400" anchor="t">
            <a:noAutofit/>
          </a:bodyPr>
          <a:lstStyle/>
          <a:p>
            <a:r>
              <a:rPr lang="en-US" sz="2000" b="1" dirty="0"/>
              <a:t>EXPENSE TRACKER - An Expense Tracking Application Using OCR and Random Forest </a:t>
            </a:r>
            <a:br>
              <a:rPr lang="en-US" sz="2000" b="1" dirty="0"/>
            </a:br>
            <a:r>
              <a:rPr lang="en-US" sz="2000" b="1" dirty="0"/>
              <a:t>Algorithm</a:t>
            </a:r>
            <a:endParaRPr sz="2000" b="1" dirty="0">
              <a:solidFill>
                <a:srgbClr val="2E4055"/>
              </a:solidFill>
              <a:latin typeface="Segoe UI"/>
            </a:endParaRPr>
          </a:p>
        </p:txBody>
      </p:sp>
      <p:sp>
        <p:nvSpPr>
          <p:cNvPr id="15" name="TextBox 14">
            <a:extLst>
              <a:ext uri="{FF2B5EF4-FFF2-40B4-BE49-F238E27FC236}">
                <a16:creationId xmlns:a16="http://schemas.microsoft.com/office/drawing/2014/main" id="{96C9C289-4F30-212A-6B02-F6FDD1BE4753}"/>
              </a:ext>
            </a:extLst>
          </p:cNvPr>
          <p:cNvSpPr txBox="1"/>
          <p:nvPr/>
        </p:nvSpPr>
        <p:spPr>
          <a:xfrm>
            <a:off x="896112" y="2798064"/>
            <a:ext cx="128016" cy="246221"/>
          </a:xfrm>
          <a:prstGeom prst="rect">
            <a:avLst/>
          </a:prstGeom>
          <a:noFill/>
        </p:spPr>
        <p:txBody>
          <a:bodyPr wrap="square" anchor="t">
            <a:spAutoFit/>
          </a:bodyPr>
          <a:lstStyle/>
          <a:p>
            <a:pPr algn="ctr"/>
            <a:endParaRPr sz="1000" b="1" dirty="0">
              <a:solidFill>
                <a:srgbClr val="FFFFFF"/>
              </a:solidFill>
              <a:latin typeface="Segoe UI"/>
            </a:endParaRPr>
          </a:p>
        </p:txBody>
      </p:sp>
      <p:sp>
        <p:nvSpPr>
          <p:cNvPr id="16" name="TextBox 15">
            <a:extLst>
              <a:ext uri="{FF2B5EF4-FFF2-40B4-BE49-F238E27FC236}">
                <a16:creationId xmlns:a16="http://schemas.microsoft.com/office/drawing/2014/main" id="{5E61888C-5759-4EF5-F79E-CC8A0F62BAAF}"/>
              </a:ext>
            </a:extLst>
          </p:cNvPr>
          <p:cNvSpPr txBox="1"/>
          <p:nvPr/>
        </p:nvSpPr>
        <p:spPr>
          <a:xfrm>
            <a:off x="889000" y="2793999"/>
            <a:ext cx="10668000" cy="1397000"/>
          </a:xfrm>
          <a:prstGeom prst="rect">
            <a:avLst/>
          </a:prstGeom>
          <a:noFill/>
        </p:spPr>
        <p:txBody>
          <a:bodyPr wrap="square" lIns="63500" tIns="25400" rIns="63500" bIns="25400" anchor="t">
            <a:noAutofit/>
          </a:bodyPr>
          <a:lstStyle/>
          <a:p>
            <a:r>
              <a:rPr lang="en-US" dirty="0"/>
              <a:t>Key Contributions:</a:t>
            </a:r>
          </a:p>
          <a:p>
            <a:r>
              <a:rPr lang="en-US" dirty="0"/>
              <a:t>• Implemented OCR for automatic expense data extraction</a:t>
            </a:r>
          </a:p>
          <a:p>
            <a:r>
              <a:rPr lang="en-US" dirty="0"/>
              <a:t>• Used Random Forest algorithm for expense classification</a:t>
            </a:r>
          </a:p>
          <a:p>
            <a:r>
              <a:rPr lang="en-US" dirty="0"/>
              <a:t>• Improved automation in expense tracking</a:t>
            </a:r>
          </a:p>
          <a:p>
            <a:r>
              <a:rPr lang="en-US" dirty="0"/>
              <a:t>• Reduced manual data entry effort</a:t>
            </a:r>
            <a:endParaRPr b="0" dirty="0">
              <a:solidFill>
                <a:srgbClr val="2E4055"/>
              </a:solidFill>
              <a:latin typeface="Segoe UI"/>
            </a:endParaRPr>
          </a:p>
        </p:txBody>
      </p:sp>
      <p:sp>
        <p:nvSpPr>
          <p:cNvPr id="19" name="TextBox 18">
            <a:extLst>
              <a:ext uri="{FF2B5EF4-FFF2-40B4-BE49-F238E27FC236}">
                <a16:creationId xmlns:a16="http://schemas.microsoft.com/office/drawing/2014/main" id="{392A7B55-BD62-5EB4-8BEC-5AEBECEB1437}"/>
              </a:ext>
            </a:extLst>
          </p:cNvPr>
          <p:cNvSpPr txBox="1"/>
          <p:nvPr/>
        </p:nvSpPr>
        <p:spPr>
          <a:xfrm>
            <a:off x="889000" y="4307840"/>
            <a:ext cx="10668000" cy="1092200"/>
          </a:xfrm>
          <a:prstGeom prst="rect">
            <a:avLst/>
          </a:prstGeom>
          <a:noFill/>
        </p:spPr>
        <p:txBody>
          <a:bodyPr wrap="square" lIns="63500" tIns="25400" rIns="63500" bIns="25400" anchor="t">
            <a:noAutofit/>
          </a:bodyPr>
          <a:lstStyle/>
          <a:p>
            <a:r>
              <a:rPr lang="en-US" dirty="0"/>
              <a:t>Limitations:</a:t>
            </a:r>
          </a:p>
          <a:p>
            <a:r>
              <a:rPr lang="en-US" dirty="0"/>
              <a:t>• Complex machine learning implementation</a:t>
            </a:r>
          </a:p>
          <a:p>
            <a:r>
              <a:rPr lang="en-US" dirty="0"/>
              <a:t>• Higher computational requirements</a:t>
            </a:r>
          </a:p>
          <a:p>
            <a:r>
              <a:rPr lang="en-US" dirty="0"/>
              <a:t>• Limited focus on beginner-friendly interface</a:t>
            </a:r>
            <a:endParaRPr b="0" dirty="0">
              <a:solidFill>
                <a:srgbClr val="2E4055"/>
              </a:solidFill>
              <a:latin typeface="Segoe UI"/>
            </a:endParaRPr>
          </a:p>
        </p:txBody>
      </p:sp>
      <p:sp>
        <p:nvSpPr>
          <p:cNvPr id="22" name="TextBox 21">
            <a:extLst>
              <a:ext uri="{FF2B5EF4-FFF2-40B4-BE49-F238E27FC236}">
                <a16:creationId xmlns:a16="http://schemas.microsoft.com/office/drawing/2014/main" id="{ADFFC20C-08A4-A1BE-D23C-F544CF86162F}"/>
              </a:ext>
            </a:extLst>
          </p:cNvPr>
          <p:cNvSpPr txBox="1"/>
          <p:nvPr/>
        </p:nvSpPr>
        <p:spPr>
          <a:xfrm>
            <a:off x="889000" y="1830165"/>
            <a:ext cx="10668000" cy="780954"/>
          </a:xfrm>
          <a:prstGeom prst="rect">
            <a:avLst/>
          </a:prstGeom>
          <a:noFill/>
        </p:spPr>
        <p:txBody>
          <a:bodyPr wrap="square" lIns="63500" tIns="25400" rIns="63500" bIns="25400" anchor="t">
            <a:noAutofit/>
          </a:bodyPr>
          <a:lstStyle/>
          <a:p>
            <a:r>
              <a:rPr lang="en-US" sz="2000" dirty="0"/>
              <a:t>Authors: J. Mohan, D. Santosh </a:t>
            </a:r>
            <a:r>
              <a:rPr lang="en-US" sz="2000" dirty="0" err="1"/>
              <a:t>Tonape</a:t>
            </a:r>
            <a:r>
              <a:rPr lang="en-US" sz="2000" dirty="0"/>
              <a:t>, D. Bhargav, G. Vinay Reddy, K. Akshay</a:t>
            </a:r>
          </a:p>
          <a:p>
            <a:r>
              <a:rPr lang="en-US" sz="2000" dirty="0"/>
              <a:t>Published In: International Journal of Engineering Research and Science &amp; Technology (IJERST), 2025</a:t>
            </a:r>
            <a:endParaRPr sz="2000" b="0" dirty="0">
              <a:solidFill>
                <a:srgbClr val="2E4055"/>
              </a:solidFill>
              <a:latin typeface="Segoe UI"/>
            </a:endParaRPr>
          </a:p>
        </p:txBody>
      </p:sp>
      <p:sp>
        <p:nvSpPr>
          <p:cNvPr id="25" name="TextBox 24">
            <a:extLst>
              <a:ext uri="{FF2B5EF4-FFF2-40B4-BE49-F238E27FC236}">
                <a16:creationId xmlns:a16="http://schemas.microsoft.com/office/drawing/2014/main" id="{28AB5A59-2B44-4A13-43CE-939F5B4137AD}"/>
              </a:ext>
            </a:extLst>
          </p:cNvPr>
          <p:cNvSpPr txBox="1"/>
          <p:nvPr/>
        </p:nvSpPr>
        <p:spPr>
          <a:xfrm>
            <a:off x="889000" y="5582920"/>
            <a:ext cx="10668000" cy="1092200"/>
          </a:xfrm>
          <a:prstGeom prst="rect">
            <a:avLst/>
          </a:prstGeom>
          <a:noFill/>
        </p:spPr>
        <p:txBody>
          <a:bodyPr wrap="square" lIns="63500" tIns="25400" rIns="63500" bIns="25400" anchor="t">
            <a:noAutofit/>
          </a:bodyPr>
          <a:lstStyle/>
          <a:p>
            <a:r>
              <a:rPr lang="en-US" dirty="0"/>
              <a:t>Relevance to Our Project:</a:t>
            </a:r>
          </a:p>
          <a:p>
            <a:r>
              <a:rPr lang="en-US" dirty="0"/>
              <a:t>• Highlighted importance of automation</a:t>
            </a:r>
          </a:p>
          <a:p>
            <a:r>
              <a:rPr lang="en-US" dirty="0"/>
              <a:t>• Our system focuses on simplicity instead of complex ML</a:t>
            </a:r>
            <a:endParaRPr b="0" dirty="0">
              <a:solidFill>
                <a:srgbClr val="2E4055"/>
              </a:solidFill>
              <a:latin typeface="Segoe UI"/>
            </a:endParaRPr>
          </a:p>
        </p:txBody>
      </p:sp>
    </p:spTree>
    <p:extLst>
      <p:ext uri="{BB962C8B-B14F-4D97-AF65-F5344CB8AC3E}">
        <p14:creationId xmlns:p14="http://schemas.microsoft.com/office/powerpoint/2010/main" val="3699668314"/>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41A67-90CD-BED2-AFD7-4AEB65FF854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D267246-EA8D-69E7-2C94-202E5DBAB64C}"/>
              </a:ext>
            </a:extLst>
          </p:cNvPr>
          <p:cNvSpPr/>
          <p:nvPr/>
        </p:nvSpPr>
        <p:spPr>
          <a:xfrm>
            <a:off x="0" y="0"/>
            <a:ext cx="12191695"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BA8D7217-4725-D9B5-F8F3-6CA4F90A1940}"/>
              </a:ext>
            </a:extLst>
          </p:cNvPr>
          <p:cNvSpPr/>
          <p:nvPr/>
        </p:nvSpPr>
        <p:spPr>
          <a:xfrm>
            <a:off x="0" y="0"/>
            <a:ext cx="12191695" cy="1463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8119B72D-5F46-6AC1-89D2-BF71213DD9FD}"/>
              </a:ext>
            </a:extLst>
          </p:cNvPr>
          <p:cNvSpPr/>
          <p:nvPr/>
        </p:nvSpPr>
        <p:spPr>
          <a:xfrm>
            <a:off x="9784080" y="-868680"/>
            <a:ext cx="3200400" cy="32004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6A90F7BA-79D9-8648-BF43-0F9E703B3FD0}"/>
              </a:ext>
            </a:extLst>
          </p:cNvPr>
          <p:cNvSpPr/>
          <p:nvPr/>
        </p:nvSpPr>
        <p:spPr>
          <a:xfrm>
            <a:off x="9966960" y="4937760"/>
            <a:ext cx="2468880" cy="24688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C6726799-887A-B3BB-7EDC-5F32227CB3E3}"/>
              </a:ext>
            </a:extLst>
          </p:cNvPr>
          <p:cNvSpPr/>
          <p:nvPr/>
        </p:nvSpPr>
        <p:spPr>
          <a:xfrm>
            <a:off x="10469880" y="310896"/>
            <a:ext cx="109728" cy="1645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727A2A9D-F182-100F-C015-A0BDBD99B0B1}"/>
              </a:ext>
            </a:extLst>
          </p:cNvPr>
          <p:cNvSpPr/>
          <p:nvPr/>
        </p:nvSpPr>
        <p:spPr>
          <a:xfrm>
            <a:off x="10634472" y="182880"/>
            <a:ext cx="10972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47809FD2-E4CB-03E5-1526-496291553305}"/>
              </a:ext>
            </a:extLst>
          </p:cNvPr>
          <p:cNvSpPr/>
          <p:nvPr/>
        </p:nvSpPr>
        <p:spPr>
          <a:xfrm>
            <a:off x="10799063" y="64008"/>
            <a:ext cx="109728" cy="4114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901D5871-2021-A2C5-F64A-4B7140A1920D}"/>
              </a:ext>
            </a:extLst>
          </p:cNvPr>
          <p:cNvSpPr/>
          <p:nvPr/>
        </p:nvSpPr>
        <p:spPr>
          <a:xfrm>
            <a:off x="10963655" y="219456"/>
            <a:ext cx="10972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1FA18801-B2C2-A17E-4D63-E31D021C8EEC}"/>
              </a:ext>
            </a:extLst>
          </p:cNvPr>
          <p:cNvSpPr txBox="1"/>
          <p:nvPr/>
        </p:nvSpPr>
        <p:spPr>
          <a:xfrm>
            <a:off x="635000" y="381000"/>
            <a:ext cx="9232900" cy="609600"/>
          </a:xfrm>
          <a:prstGeom prst="rect">
            <a:avLst/>
          </a:prstGeom>
          <a:noFill/>
        </p:spPr>
        <p:txBody>
          <a:bodyPr wrap="square" lIns="63500" tIns="25400" rIns="63500" bIns="25400" anchor="t">
            <a:noAutofit/>
          </a:bodyPr>
          <a:lstStyle/>
          <a:p>
            <a:pPr algn="l"/>
            <a:r>
              <a:rPr lang="en-US" sz="3000" b="1">
                <a:solidFill>
                  <a:srgbClr val="112646"/>
                </a:solidFill>
                <a:latin typeface="Segoe UI"/>
              </a:rPr>
              <a:t>Research Gap</a:t>
            </a:r>
            <a:endParaRPr sz="3000" b="1" dirty="0">
              <a:solidFill>
                <a:srgbClr val="112646"/>
              </a:solidFill>
              <a:latin typeface="Segoe UI"/>
            </a:endParaRPr>
          </a:p>
        </p:txBody>
      </p:sp>
      <p:sp>
        <p:nvSpPr>
          <p:cNvPr id="12" name="TextBox 11">
            <a:extLst>
              <a:ext uri="{FF2B5EF4-FFF2-40B4-BE49-F238E27FC236}">
                <a16:creationId xmlns:a16="http://schemas.microsoft.com/office/drawing/2014/main" id="{40298099-F481-52E0-23F2-7F2360A66447}"/>
              </a:ext>
            </a:extLst>
          </p:cNvPr>
          <p:cNvSpPr txBox="1"/>
          <p:nvPr/>
        </p:nvSpPr>
        <p:spPr>
          <a:xfrm>
            <a:off x="896112" y="1883664"/>
            <a:ext cx="128016" cy="246221"/>
          </a:xfrm>
          <a:prstGeom prst="rect">
            <a:avLst/>
          </a:prstGeom>
          <a:noFill/>
        </p:spPr>
        <p:txBody>
          <a:bodyPr wrap="square" anchor="t">
            <a:spAutoFit/>
          </a:bodyPr>
          <a:lstStyle/>
          <a:p>
            <a:pPr algn="ctr"/>
            <a:endParaRPr sz="1000" b="1" dirty="0">
              <a:solidFill>
                <a:srgbClr val="FFFFFF"/>
              </a:solidFill>
              <a:latin typeface="Segoe UI"/>
            </a:endParaRPr>
          </a:p>
        </p:txBody>
      </p:sp>
      <p:sp>
        <p:nvSpPr>
          <p:cNvPr id="16" name="TextBox 15">
            <a:extLst>
              <a:ext uri="{FF2B5EF4-FFF2-40B4-BE49-F238E27FC236}">
                <a16:creationId xmlns:a16="http://schemas.microsoft.com/office/drawing/2014/main" id="{5E61888C-5759-4EF5-F79E-CC8A0F62BAAF}"/>
              </a:ext>
            </a:extLst>
          </p:cNvPr>
          <p:cNvSpPr txBox="1"/>
          <p:nvPr/>
        </p:nvSpPr>
        <p:spPr>
          <a:xfrm>
            <a:off x="960120" y="1141143"/>
            <a:ext cx="10668000" cy="1752600"/>
          </a:xfrm>
          <a:prstGeom prst="rect">
            <a:avLst/>
          </a:prstGeom>
          <a:noFill/>
        </p:spPr>
        <p:txBody>
          <a:bodyPr wrap="square" lIns="63500" tIns="25400" rIns="63500" bIns="25400" anchor="t">
            <a:noAutofit/>
          </a:bodyPr>
          <a:lstStyle/>
          <a:p>
            <a:r>
              <a:rPr lang="en-US" sz="2000" dirty="0"/>
              <a:t>• Existing systems either focus on basic tracking or complex ML models</a:t>
            </a:r>
          </a:p>
          <a:p>
            <a:r>
              <a:rPr lang="en-US" sz="2000" dirty="0"/>
              <a:t>• Limited lightweight and beginner-friendly web solutions</a:t>
            </a:r>
          </a:p>
          <a:p>
            <a:r>
              <a:rPr lang="en-US" sz="2000" dirty="0"/>
              <a:t>• Many systems lack simple real-time dashboards</a:t>
            </a:r>
          </a:p>
          <a:p>
            <a:r>
              <a:rPr lang="en-US" sz="2000" dirty="0"/>
              <a:t>• Need for structured three-tier architecture implementation</a:t>
            </a:r>
            <a:endParaRPr sz="2000" b="0" dirty="0">
              <a:solidFill>
                <a:srgbClr val="2E4055"/>
              </a:solidFill>
              <a:latin typeface="Segoe UI"/>
            </a:endParaRPr>
          </a:p>
        </p:txBody>
      </p:sp>
      <p:sp>
        <p:nvSpPr>
          <p:cNvPr id="18" name="TextBox 17">
            <a:extLst>
              <a:ext uri="{FF2B5EF4-FFF2-40B4-BE49-F238E27FC236}">
                <a16:creationId xmlns:a16="http://schemas.microsoft.com/office/drawing/2014/main" id="{BDF16C6A-9D07-6FF6-362B-541897165E3E}"/>
              </a:ext>
            </a:extLst>
          </p:cNvPr>
          <p:cNvSpPr txBox="1"/>
          <p:nvPr/>
        </p:nvSpPr>
        <p:spPr>
          <a:xfrm>
            <a:off x="896112" y="3712463"/>
            <a:ext cx="128016" cy="246221"/>
          </a:xfrm>
          <a:prstGeom prst="rect">
            <a:avLst/>
          </a:prstGeom>
          <a:noFill/>
        </p:spPr>
        <p:txBody>
          <a:bodyPr wrap="square" anchor="t">
            <a:spAutoFit/>
          </a:bodyPr>
          <a:lstStyle/>
          <a:p>
            <a:pPr algn="ctr"/>
            <a:endParaRPr sz="1000" b="1" dirty="0">
              <a:solidFill>
                <a:srgbClr val="FFFFFF"/>
              </a:solidFill>
              <a:latin typeface="Segoe UI"/>
            </a:endParaRPr>
          </a:p>
        </p:txBody>
      </p:sp>
      <p:sp>
        <p:nvSpPr>
          <p:cNvPr id="19" name="TextBox 18">
            <a:extLst>
              <a:ext uri="{FF2B5EF4-FFF2-40B4-BE49-F238E27FC236}">
                <a16:creationId xmlns:a16="http://schemas.microsoft.com/office/drawing/2014/main" id="{392A7B55-BD62-5EB4-8BEC-5AEBECEB1437}"/>
              </a:ext>
            </a:extLst>
          </p:cNvPr>
          <p:cNvSpPr txBox="1"/>
          <p:nvPr/>
        </p:nvSpPr>
        <p:spPr>
          <a:xfrm>
            <a:off x="889000" y="2919144"/>
            <a:ext cx="10668000" cy="431800"/>
          </a:xfrm>
          <a:prstGeom prst="rect">
            <a:avLst/>
          </a:prstGeom>
          <a:noFill/>
        </p:spPr>
        <p:txBody>
          <a:bodyPr wrap="square" lIns="63500" tIns="25400" rIns="63500" bIns="25400" anchor="t">
            <a:noAutofit/>
          </a:bodyPr>
          <a:lstStyle/>
          <a:p>
            <a:r>
              <a:rPr lang="en-US" sz="2000" dirty="0"/>
              <a:t>Why Our System is Needed</a:t>
            </a:r>
            <a:endParaRPr sz="2000" b="0" dirty="0">
              <a:solidFill>
                <a:srgbClr val="2E4055"/>
              </a:solidFill>
              <a:latin typeface="Segoe UI"/>
            </a:endParaRPr>
          </a:p>
        </p:txBody>
      </p:sp>
      <p:sp>
        <p:nvSpPr>
          <p:cNvPr id="21" name="TextBox 20">
            <a:extLst>
              <a:ext uri="{FF2B5EF4-FFF2-40B4-BE49-F238E27FC236}">
                <a16:creationId xmlns:a16="http://schemas.microsoft.com/office/drawing/2014/main" id="{91073901-C5C0-425A-2C0F-7DEB0F74DABA}"/>
              </a:ext>
            </a:extLst>
          </p:cNvPr>
          <p:cNvSpPr txBox="1"/>
          <p:nvPr/>
        </p:nvSpPr>
        <p:spPr>
          <a:xfrm>
            <a:off x="6382512" y="1883664"/>
            <a:ext cx="128016" cy="246221"/>
          </a:xfrm>
          <a:prstGeom prst="rect">
            <a:avLst/>
          </a:prstGeom>
          <a:noFill/>
        </p:spPr>
        <p:txBody>
          <a:bodyPr wrap="square" anchor="t">
            <a:spAutoFit/>
          </a:bodyPr>
          <a:lstStyle/>
          <a:p>
            <a:pPr algn="ctr"/>
            <a:endParaRPr sz="1000" b="1" dirty="0">
              <a:solidFill>
                <a:srgbClr val="FFFFFF"/>
              </a:solidFill>
              <a:latin typeface="Segoe UI"/>
            </a:endParaRPr>
          </a:p>
        </p:txBody>
      </p:sp>
      <p:sp>
        <p:nvSpPr>
          <p:cNvPr id="22" name="TextBox 21">
            <a:extLst>
              <a:ext uri="{FF2B5EF4-FFF2-40B4-BE49-F238E27FC236}">
                <a16:creationId xmlns:a16="http://schemas.microsoft.com/office/drawing/2014/main" id="{ADFFC20C-08A4-A1BE-D23C-F544CF86162F}"/>
              </a:ext>
            </a:extLst>
          </p:cNvPr>
          <p:cNvSpPr txBox="1"/>
          <p:nvPr/>
        </p:nvSpPr>
        <p:spPr>
          <a:xfrm>
            <a:off x="896112" y="3470071"/>
            <a:ext cx="10668000" cy="1676400"/>
          </a:xfrm>
          <a:prstGeom prst="rect">
            <a:avLst/>
          </a:prstGeom>
          <a:noFill/>
        </p:spPr>
        <p:txBody>
          <a:bodyPr wrap="square" lIns="63500" tIns="25400" rIns="63500" bIns="25400" anchor="t">
            <a:noAutofit/>
          </a:bodyPr>
          <a:lstStyle/>
          <a:p>
            <a:r>
              <a:rPr lang="en-US" sz="2000" dirty="0"/>
              <a:t>• Provides simple and user-friendly interface</a:t>
            </a:r>
          </a:p>
          <a:p>
            <a:r>
              <a:rPr lang="en-US" sz="2000" dirty="0"/>
              <a:t>• Offers structured expense categorization</a:t>
            </a:r>
          </a:p>
          <a:p>
            <a:r>
              <a:rPr lang="en-US" sz="2000" dirty="0"/>
              <a:t>• Displays real-time expense summaries</a:t>
            </a:r>
          </a:p>
          <a:p>
            <a:r>
              <a:rPr lang="en-US" sz="2000" dirty="0"/>
              <a:t>• Implements clean and scalable web architecture</a:t>
            </a:r>
            <a:endParaRPr sz="2000" b="0" dirty="0">
              <a:solidFill>
                <a:srgbClr val="2E4055"/>
              </a:solidFill>
              <a:latin typeface="Segoe UI"/>
            </a:endParaRPr>
          </a:p>
        </p:txBody>
      </p:sp>
      <p:sp>
        <p:nvSpPr>
          <p:cNvPr id="25" name="TextBox 24">
            <a:extLst>
              <a:ext uri="{FF2B5EF4-FFF2-40B4-BE49-F238E27FC236}">
                <a16:creationId xmlns:a16="http://schemas.microsoft.com/office/drawing/2014/main" id="{28AB5A59-2B44-4A13-43CE-939F5B4137AD}"/>
              </a:ext>
            </a:extLst>
          </p:cNvPr>
          <p:cNvSpPr txBox="1"/>
          <p:nvPr/>
        </p:nvSpPr>
        <p:spPr>
          <a:xfrm>
            <a:off x="960120" y="5160263"/>
            <a:ext cx="10668000" cy="457200"/>
          </a:xfrm>
          <a:prstGeom prst="rect">
            <a:avLst/>
          </a:prstGeom>
          <a:noFill/>
        </p:spPr>
        <p:txBody>
          <a:bodyPr wrap="square" lIns="63500" tIns="25400" rIns="63500" bIns="25400" anchor="t">
            <a:noAutofit/>
          </a:bodyPr>
          <a:lstStyle/>
          <a:p>
            <a:r>
              <a:rPr lang="en-US" sz="2000" dirty="0"/>
              <a:t>Gap Addressed: Simplicity + real-time tracking + clean architecture</a:t>
            </a:r>
            <a:endParaRPr sz="2000" b="0" dirty="0">
              <a:solidFill>
                <a:srgbClr val="2E4055"/>
              </a:solidFill>
              <a:latin typeface="Segoe UI"/>
            </a:endParaRPr>
          </a:p>
        </p:txBody>
      </p:sp>
    </p:spTree>
    <p:extLst>
      <p:ext uri="{BB962C8B-B14F-4D97-AF65-F5344CB8AC3E}">
        <p14:creationId xmlns:p14="http://schemas.microsoft.com/office/powerpoint/2010/main" val="2528109962"/>
      </p:ext>
    </p:extLst>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463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868680"/>
            <a:ext cx="3200400" cy="32004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966960" y="4937760"/>
            <a:ext cx="2468880" cy="24688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469880" y="310896"/>
            <a:ext cx="109728" cy="1645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634472" y="182880"/>
            <a:ext cx="10972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799063" y="64008"/>
            <a:ext cx="109728" cy="4114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63655" y="219456"/>
            <a:ext cx="10972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84048"/>
            <a:ext cx="9235440" cy="615553"/>
          </a:xfrm>
          <a:prstGeom prst="rect">
            <a:avLst/>
          </a:prstGeom>
          <a:noFill/>
        </p:spPr>
        <p:txBody>
          <a:bodyPr wrap="square" anchor="t">
            <a:noAutofit/>
          </a:bodyPr>
          <a:lstStyle/>
          <a:p>
            <a:pPr algn="l"/>
            <a:r>
              <a:rPr lang="en-IN" sz="3000" b="1">
                <a:solidFill>
                  <a:srgbClr val="112646"/>
                </a:solidFill>
                <a:latin typeface="Segoe UI"/>
              </a:rPr>
              <a:t>Problem Statement</a:t>
            </a:r>
            <a:endParaRPr sz="3000" b="1">
              <a:solidFill>
                <a:srgbClr val="112646"/>
              </a:solidFill>
              <a:latin typeface="Segoe UI"/>
            </a:endParaRPr>
          </a:p>
        </p:txBody>
      </p:sp>
      <p:sp>
        <p:nvSpPr>
          <p:cNvPr id="13" name="TextBox 12"/>
          <p:cNvSpPr txBox="1"/>
          <p:nvPr/>
        </p:nvSpPr>
        <p:spPr>
          <a:xfrm>
            <a:off x="905525" y="1647508"/>
            <a:ext cx="10058130" cy="4195323"/>
          </a:xfrm>
          <a:prstGeom prst="rect">
            <a:avLst/>
          </a:prstGeom>
          <a:noFill/>
        </p:spPr>
        <p:txBody>
          <a:bodyPr wrap="square">
            <a:noAutofit/>
          </a:bodyPr>
          <a:lstStyle/>
          <a:p>
            <a:r>
              <a:rPr lang="en-US" sz="2400" dirty="0"/>
              <a:t>Many individuals do not have a proper system to track their daily expenses. Manual methods are time-consuming and do not provide proper analysis.</a:t>
            </a:r>
          </a:p>
          <a:p>
            <a:r>
              <a:rPr lang="en-US" sz="2400" dirty="0"/>
              <a:t>Existing applications are either:</a:t>
            </a:r>
          </a:p>
          <a:p>
            <a:endParaRPr lang="en-US" sz="2400" dirty="0"/>
          </a:p>
          <a:p>
            <a:r>
              <a:rPr lang="en-US" sz="2400" dirty="0"/>
              <a:t>• Too complex</a:t>
            </a:r>
            <a:br>
              <a:rPr lang="en-US" sz="2400" dirty="0"/>
            </a:br>
            <a:r>
              <a:rPr lang="en-US" sz="2400" dirty="0"/>
              <a:t>• Limited to one platform</a:t>
            </a:r>
            <a:br>
              <a:rPr lang="en-US" sz="2400" dirty="0"/>
            </a:br>
            <a:r>
              <a:rPr lang="en-US" sz="2400" dirty="0"/>
              <a:t>• Missing real-time summaries</a:t>
            </a:r>
            <a:br>
              <a:rPr lang="en-US" sz="2400" dirty="0"/>
            </a:br>
            <a:r>
              <a:rPr lang="en-US" sz="2400" dirty="0"/>
              <a:t>• Lacking budget monitoring features</a:t>
            </a:r>
          </a:p>
          <a:p>
            <a:endParaRPr lang="en-US" sz="2400" dirty="0"/>
          </a:p>
          <a:p>
            <a:r>
              <a:rPr lang="en-US" sz="2400" dirty="0"/>
              <a:t>Therefore, there is a need to develop a simple and user-friendly web-based Expense Tracker System that allows structured expense recording, real-time monitoring, and better financial awareness.</a:t>
            </a:r>
          </a:p>
          <a:p>
            <a:pPr algn="l"/>
            <a:endParaRPr sz="2400" b="0" dirty="0">
              <a:solidFill>
                <a:srgbClr val="2E4055"/>
              </a:solidFill>
              <a:latin typeface="Segoe UI"/>
            </a:endParaRPr>
          </a:p>
        </p:txBody>
      </p:sp>
      <p:sp>
        <p:nvSpPr>
          <p:cNvPr id="19" name="TextBox 18"/>
          <p:cNvSpPr txBox="1"/>
          <p:nvPr/>
        </p:nvSpPr>
        <p:spPr>
          <a:xfrm>
            <a:off x="1206500" y="3124200"/>
            <a:ext cx="10236200" cy="400110"/>
          </a:xfrm>
          <a:prstGeom prst="rect">
            <a:avLst/>
          </a:prstGeom>
          <a:noFill/>
        </p:spPr>
        <p:txBody>
          <a:bodyPr wrap="square">
            <a:noAutofit/>
          </a:bodyPr>
          <a:lstStyle/>
          <a:p>
            <a:pPr algn="l"/>
            <a:endParaRPr sz="1500" b="1" dirty="0">
              <a:solidFill>
                <a:srgbClr val="DC5252"/>
              </a:solidFill>
              <a:latin typeface="Segoe UI"/>
            </a:endParaRPr>
          </a:p>
        </p:txBody>
      </p:sp>
      <p:sp>
        <p:nvSpPr>
          <p:cNvPr id="24" name="TextBox 23"/>
          <p:cNvSpPr txBox="1"/>
          <p:nvPr/>
        </p:nvSpPr>
        <p:spPr>
          <a:xfrm>
            <a:off x="1002538" y="4514780"/>
            <a:ext cx="128016" cy="276999"/>
          </a:xfrm>
          <a:prstGeom prst="rect">
            <a:avLst/>
          </a:prstGeom>
          <a:noFill/>
        </p:spPr>
        <p:txBody>
          <a:bodyPr wrap="square" anchor="t">
            <a:spAutoFit/>
          </a:bodyPr>
          <a:lstStyle/>
          <a:p>
            <a:pPr algn="ctr"/>
            <a:r>
              <a:rPr lang="en-IN" sz="1200" b="1">
                <a:solidFill>
                  <a:srgbClr val="FFFFFF"/>
                </a:solidFill>
                <a:latin typeface="Segoe UI"/>
              </a:rPr>
              <a:t>!</a:t>
            </a:r>
            <a:endParaRPr sz="1200" b="1">
              <a:solidFill>
                <a:srgbClr val="FFFFFF"/>
              </a:solidFill>
              <a:latin typeface="Segoe U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5E8DA-AA4F-17A4-8084-9A1A4AA385D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D23428F-328B-3EE1-4038-4AF475104EF7}"/>
              </a:ext>
            </a:extLst>
          </p:cNvPr>
          <p:cNvSpPr/>
          <p:nvPr/>
        </p:nvSpPr>
        <p:spPr>
          <a:xfrm>
            <a:off x="0" y="0"/>
            <a:ext cx="12191695"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DBE008B-AC59-E9C2-6F07-801D1A7A6EEE}"/>
              </a:ext>
            </a:extLst>
          </p:cNvPr>
          <p:cNvSpPr/>
          <p:nvPr/>
        </p:nvSpPr>
        <p:spPr>
          <a:xfrm>
            <a:off x="0" y="0"/>
            <a:ext cx="12191695" cy="1463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46F11D81-E3DB-EA40-03EA-F1A7436487CC}"/>
              </a:ext>
            </a:extLst>
          </p:cNvPr>
          <p:cNvSpPr/>
          <p:nvPr/>
        </p:nvSpPr>
        <p:spPr>
          <a:xfrm>
            <a:off x="9784080" y="-868680"/>
            <a:ext cx="3200400" cy="32004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7FDCAF8B-7A67-E76C-42C0-B2C22E54AF17}"/>
              </a:ext>
            </a:extLst>
          </p:cNvPr>
          <p:cNvSpPr/>
          <p:nvPr/>
        </p:nvSpPr>
        <p:spPr>
          <a:xfrm>
            <a:off x="9966960" y="4937760"/>
            <a:ext cx="2468880" cy="24688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A1BC37EC-F9C7-0512-32CB-46236D123DCC}"/>
              </a:ext>
            </a:extLst>
          </p:cNvPr>
          <p:cNvSpPr/>
          <p:nvPr/>
        </p:nvSpPr>
        <p:spPr>
          <a:xfrm>
            <a:off x="10469880" y="310896"/>
            <a:ext cx="109728" cy="1645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9D4F3E4E-BE96-33D7-51AB-FB86FE00B192}"/>
              </a:ext>
            </a:extLst>
          </p:cNvPr>
          <p:cNvSpPr/>
          <p:nvPr/>
        </p:nvSpPr>
        <p:spPr>
          <a:xfrm>
            <a:off x="10634472" y="182880"/>
            <a:ext cx="10972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5209848B-9C06-E772-009B-57263576C505}"/>
              </a:ext>
            </a:extLst>
          </p:cNvPr>
          <p:cNvSpPr/>
          <p:nvPr/>
        </p:nvSpPr>
        <p:spPr>
          <a:xfrm>
            <a:off x="10799063" y="64008"/>
            <a:ext cx="109728" cy="4114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7DD7B351-EBD9-7277-3CFF-C52ED096C33F}"/>
              </a:ext>
            </a:extLst>
          </p:cNvPr>
          <p:cNvSpPr/>
          <p:nvPr/>
        </p:nvSpPr>
        <p:spPr>
          <a:xfrm>
            <a:off x="10963655" y="219456"/>
            <a:ext cx="10972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833C1991-B8C9-90D4-D945-7AF5716D382F}"/>
              </a:ext>
            </a:extLst>
          </p:cNvPr>
          <p:cNvSpPr txBox="1"/>
          <p:nvPr/>
        </p:nvSpPr>
        <p:spPr>
          <a:xfrm>
            <a:off x="640080" y="384048"/>
            <a:ext cx="9235440" cy="615553"/>
          </a:xfrm>
          <a:prstGeom prst="rect">
            <a:avLst/>
          </a:prstGeom>
          <a:noFill/>
        </p:spPr>
        <p:txBody>
          <a:bodyPr wrap="square" anchor="t">
            <a:noAutofit/>
          </a:bodyPr>
          <a:lstStyle/>
          <a:p>
            <a:pPr algn="l"/>
            <a:r>
              <a:rPr lang="en-US" sz="3000" b="1">
                <a:solidFill>
                  <a:srgbClr val="112646"/>
                </a:solidFill>
                <a:latin typeface="Segoe UI"/>
              </a:rPr>
              <a:t>System Architecture</a:t>
            </a:r>
            <a:endParaRPr sz="3000" b="1" dirty="0">
              <a:solidFill>
                <a:srgbClr val="112646"/>
              </a:solidFill>
              <a:latin typeface="Segoe UI"/>
            </a:endParaRPr>
          </a:p>
        </p:txBody>
      </p:sp>
      <p:sp>
        <p:nvSpPr>
          <p:cNvPr id="11" name="TextBox 10"/>
          <p:cNvSpPr txBox="1"/>
          <p:nvPr/>
        </p:nvSpPr>
        <p:spPr>
          <a:xfrm>
            <a:off x="634999" y="1156157"/>
            <a:ext cx="8523295" cy="430887"/>
          </a:xfrm>
          <a:prstGeom prst="rect">
            <a:avLst/>
          </a:prstGeom>
          <a:noFill/>
        </p:spPr>
        <p:txBody>
          <a:bodyPr wrap="square" anchor="ctr">
            <a:noAutofit/>
          </a:bodyPr>
          <a:lstStyle/>
          <a:p>
            <a:pPr algn="l"/>
            <a:r>
              <a:rPr lang="en-IN" sz="2000" b="1" dirty="0">
                <a:solidFill>
                  <a:srgbClr val="2F4F6F"/>
                </a:solidFill>
                <a:latin typeface="Segoe UI"/>
              </a:rPr>
              <a:t>Three-Tier Architecture (Presentation - Application - Database)</a:t>
            </a:r>
            <a:endParaRPr sz="2000" b="1" dirty="0">
              <a:solidFill>
                <a:srgbClr val="2F4F6F"/>
              </a:solidFill>
              <a:latin typeface="Segoe UI"/>
            </a:endParaRPr>
          </a:p>
        </p:txBody>
      </p:sp>
      <p:sp>
        <p:nvSpPr>
          <p:cNvPr id="12" name="Rounded Rectangle 11"/>
          <p:cNvSpPr/>
          <p:nvPr/>
        </p:nvSpPr>
        <p:spPr>
          <a:xfrm>
            <a:off x="609600" y="2235200"/>
            <a:ext cx="3429000" cy="1981200"/>
          </a:xfrm>
          <a:prstGeom prst="roundRect">
            <a:avLst/>
          </a:prstGeom>
          <a:solidFill>
            <a:srgbClr val="D9E8FF"/>
          </a:solidFill>
          <a:ln w="25400">
            <a:solidFill>
              <a:srgbClr val="7AA6D9"/>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lang="en-US" sz="1600" b="1" dirty="0">
                <a:solidFill>
                  <a:srgbClr val="1F3A5F"/>
                </a:solidFill>
                <a:latin typeface="Segoe UI"/>
              </a:rPr>
              <a:t>Presentation Layer</a:t>
            </a:r>
          </a:p>
          <a:p>
            <a:pPr algn="ctr"/>
            <a:r>
              <a:rPr lang="en-US" sz="1600" b="1" dirty="0">
                <a:solidFill>
                  <a:srgbClr val="1F3A5F"/>
                </a:solidFill>
                <a:latin typeface="Segoe UI"/>
              </a:rPr>
              <a:t>(HTML, CSS, JavaScript)</a:t>
            </a:r>
          </a:p>
          <a:p>
            <a:pPr algn="ctr"/>
            <a:r>
              <a:rPr lang="en-US" sz="1600" b="1" dirty="0">
                <a:solidFill>
                  <a:srgbClr val="1F3A5F"/>
                </a:solidFill>
                <a:latin typeface="Segoe UI"/>
              </a:rPr>
              <a:t>• Login, expense entry, dashboard UI</a:t>
            </a:r>
          </a:p>
          <a:p>
            <a:pPr algn="ctr"/>
            <a:r>
              <a:rPr lang="en-US" sz="1600" b="1" dirty="0">
                <a:solidFill>
                  <a:srgbClr val="1F3A5F"/>
                </a:solidFill>
                <a:latin typeface="Segoe UI"/>
              </a:rPr>
              <a:t>• Captures input and sends requests</a:t>
            </a:r>
            <a:endParaRPr sz="1600" b="0" dirty="0">
              <a:solidFill>
                <a:srgbClr val="2E4E74"/>
              </a:solidFill>
              <a:latin typeface="Segoe UI"/>
            </a:endParaRPr>
          </a:p>
        </p:txBody>
      </p:sp>
      <p:sp>
        <p:nvSpPr>
          <p:cNvPr id="13" name="Rounded Rectangle 12"/>
          <p:cNvSpPr/>
          <p:nvPr/>
        </p:nvSpPr>
        <p:spPr>
          <a:xfrm>
            <a:off x="4394200" y="2235200"/>
            <a:ext cx="3429000" cy="1981200"/>
          </a:xfrm>
          <a:prstGeom prst="roundRect">
            <a:avLst/>
          </a:prstGeom>
          <a:solidFill>
            <a:srgbClr val="D9F5EE"/>
          </a:solidFill>
          <a:ln w="25400">
            <a:solidFill>
              <a:srgbClr val="79B8A7"/>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lang="en-US" sz="1600" b="1" dirty="0">
                <a:solidFill>
                  <a:srgbClr val="1F4E45"/>
                </a:solidFill>
                <a:latin typeface="Segoe UI"/>
              </a:rPr>
              <a:t>Application Layer</a:t>
            </a:r>
          </a:p>
          <a:p>
            <a:pPr algn="ctr"/>
            <a:r>
              <a:rPr lang="en-US" sz="1600" b="1" dirty="0">
                <a:solidFill>
                  <a:srgbClr val="1F4E45"/>
                </a:solidFill>
                <a:latin typeface="Segoe UI"/>
              </a:rPr>
              <a:t>(Python, Flask)</a:t>
            </a:r>
          </a:p>
          <a:p>
            <a:pPr algn="ctr"/>
            <a:r>
              <a:rPr lang="en-US" sz="1600" b="1" dirty="0">
                <a:solidFill>
                  <a:srgbClr val="1F4E45"/>
                </a:solidFill>
                <a:latin typeface="Segoe UI"/>
              </a:rPr>
              <a:t>• Auth/Expense/Budget/Report routes</a:t>
            </a:r>
          </a:p>
          <a:p>
            <a:pPr algn="ctr"/>
            <a:r>
              <a:rPr lang="en-US" sz="1600" b="1" dirty="0">
                <a:solidFill>
                  <a:srgbClr val="1F4E45"/>
                </a:solidFill>
                <a:latin typeface="Segoe UI"/>
              </a:rPr>
              <a:t>• Validates input, applies logic, computes totals</a:t>
            </a:r>
            <a:endParaRPr sz="1600" b="0" dirty="0">
              <a:solidFill>
                <a:srgbClr val="2D665B"/>
              </a:solidFill>
              <a:latin typeface="Segoe UI"/>
            </a:endParaRPr>
          </a:p>
        </p:txBody>
      </p:sp>
      <p:sp>
        <p:nvSpPr>
          <p:cNvPr id="14" name="Rounded Rectangle 13"/>
          <p:cNvSpPr/>
          <p:nvPr/>
        </p:nvSpPr>
        <p:spPr>
          <a:xfrm>
            <a:off x="8178800" y="2235200"/>
            <a:ext cx="3429000" cy="1981200"/>
          </a:xfrm>
          <a:prstGeom prst="roundRect">
            <a:avLst/>
          </a:prstGeom>
          <a:solidFill>
            <a:srgbClr val="FFE8D9"/>
          </a:solidFill>
          <a:ln w="25400">
            <a:solidFill>
              <a:srgbClr val="D09A78"/>
            </a:solid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lang="en-US" sz="1600" b="1" dirty="0">
                <a:solidFill>
                  <a:srgbClr val="6B3D24"/>
                </a:solidFill>
                <a:latin typeface="Segoe UI"/>
              </a:rPr>
              <a:t>Database Layer</a:t>
            </a:r>
          </a:p>
          <a:p>
            <a:pPr algn="ctr"/>
            <a:r>
              <a:rPr lang="en-US" sz="1600" b="1" dirty="0">
                <a:solidFill>
                  <a:srgbClr val="6B3D24"/>
                </a:solidFill>
                <a:latin typeface="Segoe UI"/>
              </a:rPr>
              <a:t>(MongoDB)</a:t>
            </a:r>
          </a:p>
          <a:p>
            <a:pPr algn="ctr"/>
            <a:r>
              <a:rPr lang="en-US" sz="1600" b="1" dirty="0">
                <a:solidFill>
                  <a:srgbClr val="6B3D24"/>
                </a:solidFill>
                <a:latin typeface="Segoe UI"/>
              </a:rPr>
              <a:t>• Collections: users, expenses, categories, budgets</a:t>
            </a:r>
          </a:p>
          <a:p>
            <a:pPr algn="ctr"/>
            <a:r>
              <a:rPr lang="en-US" sz="1600" b="1" dirty="0">
                <a:solidFill>
                  <a:srgbClr val="6B3D24"/>
                </a:solidFill>
                <a:latin typeface="Segoe UI"/>
              </a:rPr>
              <a:t>• Stores and retrieves financial records</a:t>
            </a:r>
            <a:endParaRPr sz="1600" b="0" dirty="0">
              <a:solidFill>
                <a:srgbClr val="7E5033"/>
              </a:solidFill>
              <a:latin typeface="Segoe UI"/>
            </a:endParaRPr>
          </a:p>
        </p:txBody>
      </p:sp>
      <p:sp>
        <p:nvSpPr>
          <p:cNvPr id="15" name="Right Arrow 14"/>
          <p:cNvSpPr/>
          <p:nvPr/>
        </p:nvSpPr>
        <p:spPr>
          <a:xfrm>
            <a:off x="4114800" y="3048000"/>
            <a:ext cx="203200" cy="304800"/>
          </a:xfrm>
          <a:prstGeom prst="rightArrow">
            <a:avLst/>
          </a:prstGeom>
          <a:solidFill>
            <a:srgbClr val="7B8A9A"/>
          </a:solidFill>
          <a:ln>
            <a:solidFill>
              <a:srgbClr val="7B8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ight Arrow 15"/>
          <p:cNvSpPr/>
          <p:nvPr/>
        </p:nvSpPr>
        <p:spPr>
          <a:xfrm>
            <a:off x="7899400" y="3048000"/>
            <a:ext cx="203200" cy="304800"/>
          </a:xfrm>
          <a:prstGeom prst="rightArrow">
            <a:avLst/>
          </a:prstGeom>
          <a:solidFill>
            <a:srgbClr val="7B8A9A"/>
          </a:solidFill>
          <a:ln>
            <a:solidFill>
              <a:srgbClr val="7B8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rchitecture Cycle Note">
            <a:extLst>
              <a:ext uri="{FF2B5EF4-FFF2-40B4-BE49-F238E27FC236}">
                <a16:creationId xmlns:a16="http://schemas.microsoft.com/office/drawing/2014/main" id="{13377902-8974-3B16-44F2-A7F5A41B63AB}"/>
              </a:ext>
            </a:extLst>
          </p:cNvPr>
          <p:cNvSpPr txBox="1"/>
          <p:nvPr/>
        </p:nvSpPr>
        <p:spPr>
          <a:xfrm>
            <a:off x="635000" y="1574800"/>
            <a:ext cx="10922000" cy="646331"/>
          </a:xfrm>
          <a:prstGeom prst="rect">
            <a:avLst/>
          </a:prstGeom>
          <a:noFill/>
        </p:spPr>
        <p:txBody>
          <a:bodyPr vert="horz" wrap="square" rtlCol="0">
            <a:noAutofit/>
          </a:bodyPr>
          <a:lstStyle/>
          <a:p>
            <a:r>
              <a:rPr lang="en-US" sz="1600" dirty="0"/>
              <a:t>Request-Response Cycle: User action in UI -&gt; Flask route and business logic -&gt; MongoDB read/write -&gt; Flask response -&gt; UI dashboard update</a:t>
            </a:r>
            <a:endParaRPr lang="en-IN" sz="1600" dirty="0"/>
          </a:p>
        </p:txBody>
      </p:sp>
      <p:sp>
        <p:nvSpPr>
          <p:cNvPr id="19" name="Data Flow Text">
            <a:extLst>
              <a:ext uri="{FF2B5EF4-FFF2-40B4-BE49-F238E27FC236}">
                <a16:creationId xmlns:a16="http://schemas.microsoft.com/office/drawing/2014/main" id="{350C445B-FF0E-A975-F7FB-B495F11BFD88}"/>
              </a:ext>
            </a:extLst>
          </p:cNvPr>
          <p:cNvSpPr txBox="1"/>
          <p:nvPr/>
        </p:nvSpPr>
        <p:spPr>
          <a:xfrm>
            <a:off x="939800" y="4546600"/>
            <a:ext cx="4902200" cy="1727200"/>
          </a:xfrm>
          <a:prstGeom prst="rect">
            <a:avLst/>
          </a:prstGeom>
          <a:noFill/>
        </p:spPr>
        <p:txBody>
          <a:bodyPr vert="horz" wrap="square" lIns="50800" tIns="25400" rIns="50800" bIns="25400" rtlCol="0">
            <a:noAutofit/>
          </a:bodyPr>
          <a:lstStyle/>
          <a:p>
            <a:endParaRPr lang="en-IN" dirty="0"/>
          </a:p>
        </p:txBody>
      </p:sp>
      <p:sp>
        <p:nvSpPr>
          <p:cNvPr id="20" name="Tech Choice Panel">
            <a:extLst>
              <a:ext uri="{FF2B5EF4-FFF2-40B4-BE49-F238E27FC236}">
                <a16:creationId xmlns:a16="http://schemas.microsoft.com/office/drawing/2014/main" id="{2B6B6ABA-29E1-8E42-9D19-BFC1A8464F35}"/>
              </a:ext>
            </a:extLst>
          </p:cNvPr>
          <p:cNvSpPr/>
          <p:nvPr/>
        </p:nvSpPr>
        <p:spPr>
          <a:xfrm>
            <a:off x="2921000" y="4528312"/>
            <a:ext cx="5257800" cy="1981200"/>
          </a:xfrm>
          <a:prstGeom prst="roundRect">
            <a:avLst/>
          </a:prstGeom>
          <a:gradFill flip="none" rotWithShape="1">
            <a:gsLst>
              <a:gs pos="0">
                <a:srgbClr val="FFFFFF">
                  <a:alpha val="90000"/>
                </a:srgbClr>
              </a:gs>
              <a:gs pos="100000">
                <a:schemeClr val="accent1">
                  <a:tint val="50000"/>
                  <a:shade val="100000"/>
                  <a:satMod val="350000"/>
                  <a:alpha val="90000"/>
                </a:schemeClr>
              </a:gs>
            </a:gsLst>
            <a:lin ang="16200000" scaled="0"/>
            <a:tileRect/>
          </a:gradFill>
          <a:ln w="15875">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1" name="Tech Choice Text">
            <a:extLst>
              <a:ext uri="{FF2B5EF4-FFF2-40B4-BE49-F238E27FC236}">
                <a16:creationId xmlns:a16="http://schemas.microsoft.com/office/drawing/2014/main" id="{4E733ED5-3DDC-C08D-A094-76AAD6731605}"/>
              </a:ext>
            </a:extLst>
          </p:cNvPr>
          <p:cNvSpPr txBox="1"/>
          <p:nvPr/>
        </p:nvSpPr>
        <p:spPr>
          <a:xfrm>
            <a:off x="3098800" y="4680635"/>
            <a:ext cx="4902200" cy="1727200"/>
          </a:xfrm>
          <a:prstGeom prst="rect">
            <a:avLst/>
          </a:prstGeom>
          <a:noFill/>
        </p:spPr>
        <p:txBody>
          <a:bodyPr vert="horz" wrap="square" lIns="50800" tIns="25400" rIns="50800" bIns="25400" rtlCol="0">
            <a:noAutofit/>
          </a:bodyPr>
          <a:lstStyle/>
          <a:p>
            <a:r>
              <a:rPr lang="en-IN" sz="1600" dirty="0"/>
              <a:t>Why These Technologies?</a:t>
            </a:r>
          </a:p>
          <a:p>
            <a:r>
              <a:rPr lang="en-IN" sz="1600" dirty="0"/>
              <a:t>• HTML/CSS/JS: lightweight and user-friendly interface.</a:t>
            </a:r>
          </a:p>
          <a:p>
            <a:r>
              <a:rPr lang="en-IN" sz="1600" dirty="0"/>
              <a:t>• Python + Flask: fast development with clear modular logic.</a:t>
            </a:r>
          </a:p>
          <a:p>
            <a:r>
              <a:rPr lang="en-IN" sz="1600" dirty="0"/>
              <a:t>• MongoDB: flexible schema for varied expense categories.</a:t>
            </a:r>
          </a:p>
          <a:p>
            <a:r>
              <a:rPr lang="en-IN" sz="1600" dirty="0"/>
              <a:t>• Three-tier design: maintainable, testable, and scalable.</a:t>
            </a:r>
          </a:p>
        </p:txBody>
      </p:sp>
    </p:spTree>
    <p:extLst>
      <p:ext uri="{BB962C8B-B14F-4D97-AF65-F5344CB8AC3E}">
        <p14:creationId xmlns:p14="http://schemas.microsoft.com/office/powerpoint/2010/main" val="13024948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868680"/>
            <a:ext cx="3200400" cy="32004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966960" y="4937760"/>
            <a:ext cx="2468880" cy="24688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469880" y="310896"/>
            <a:ext cx="109728" cy="1645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634472" y="182880"/>
            <a:ext cx="10972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799063" y="64008"/>
            <a:ext cx="109728" cy="4114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63655" y="219456"/>
            <a:ext cx="10972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84048"/>
            <a:ext cx="9235440" cy="615553"/>
          </a:xfrm>
          <a:prstGeom prst="rect">
            <a:avLst/>
          </a:prstGeom>
          <a:noFill/>
        </p:spPr>
        <p:txBody>
          <a:bodyPr wrap="square" anchor="t">
            <a:spAutoFit/>
          </a:bodyPr>
          <a:lstStyle/>
          <a:p>
            <a:r>
              <a:rPr lang="en-IN" sz="3400" b="1" dirty="0">
                <a:solidFill>
                  <a:srgbClr val="12233A"/>
                </a:solidFill>
                <a:latin typeface="Segoe UI"/>
              </a:rPr>
              <a:t>Methodology / Working</a:t>
            </a:r>
          </a:p>
        </p:txBody>
      </p:sp>
      <p:sp>
        <p:nvSpPr>
          <p:cNvPr id="11" name="Rounded Rectangle 10"/>
          <p:cNvSpPr/>
          <p:nvPr/>
        </p:nvSpPr>
        <p:spPr>
          <a:xfrm>
            <a:off x="731520" y="1554480"/>
            <a:ext cx="5364480" cy="2514600"/>
          </a:xfrm>
          <a:prstGeom prst="roundRect">
            <a:avLst/>
          </a:prstGeom>
          <a:solidFill>
            <a:srgbClr val="EEF7FF"/>
          </a:solidFill>
          <a:ln w="1587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1664792"/>
            <a:ext cx="4937760" cy="320040"/>
          </a:xfrm>
          <a:prstGeom prst="rect">
            <a:avLst/>
          </a:prstGeom>
          <a:noFill/>
        </p:spPr>
        <p:txBody>
          <a:bodyPr wrap="square" anchor="t">
            <a:spAutoFit/>
          </a:bodyPr>
          <a:lstStyle/>
          <a:p>
            <a:pPr algn="l"/>
            <a:r>
              <a:rPr sz="1600" b="1" dirty="0">
                <a:solidFill>
                  <a:srgbClr val="112646"/>
                </a:solidFill>
                <a:latin typeface="Segoe UI"/>
              </a:rPr>
              <a:t>Working Steps</a:t>
            </a:r>
          </a:p>
        </p:txBody>
      </p:sp>
      <p:sp>
        <p:nvSpPr>
          <p:cNvPr id="13" name="Oval 12"/>
          <p:cNvSpPr/>
          <p:nvPr/>
        </p:nvSpPr>
        <p:spPr>
          <a:xfrm>
            <a:off x="960120" y="2185416"/>
            <a:ext cx="274320" cy="27432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33272" y="2203704"/>
            <a:ext cx="128016" cy="128016"/>
          </a:xfrm>
          <a:prstGeom prst="rect">
            <a:avLst/>
          </a:prstGeom>
          <a:noFill/>
        </p:spPr>
        <p:txBody>
          <a:bodyPr wrap="square" anchor="t">
            <a:spAutoFit/>
          </a:bodyPr>
          <a:lstStyle/>
          <a:p>
            <a:pPr algn="ctr"/>
            <a:r>
              <a:rPr sz="1000" b="1" dirty="0">
                <a:solidFill>
                  <a:srgbClr val="FFFFFF"/>
                </a:solidFill>
                <a:latin typeface="Segoe UI"/>
              </a:rPr>
              <a:t>&gt;</a:t>
            </a:r>
          </a:p>
        </p:txBody>
      </p:sp>
      <p:sp>
        <p:nvSpPr>
          <p:cNvPr id="15" name="TextBox 14"/>
          <p:cNvSpPr txBox="1"/>
          <p:nvPr/>
        </p:nvSpPr>
        <p:spPr>
          <a:xfrm>
            <a:off x="1344168" y="2148840"/>
            <a:ext cx="10332720" cy="411480"/>
          </a:xfrm>
          <a:prstGeom prst="rect">
            <a:avLst/>
          </a:prstGeom>
          <a:noFill/>
        </p:spPr>
        <p:txBody>
          <a:bodyPr wrap="square" anchor="t">
            <a:spAutoFit/>
          </a:bodyPr>
          <a:lstStyle/>
          <a:p>
            <a:pPr algn="l"/>
            <a:r>
              <a:rPr sz="1300" b="0" dirty="0">
                <a:solidFill>
                  <a:srgbClr val="2E4055"/>
                </a:solidFill>
                <a:latin typeface="Segoe UI"/>
              </a:rPr>
              <a:t>Step 1: User enters expense details</a:t>
            </a:r>
          </a:p>
        </p:txBody>
      </p:sp>
      <p:sp>
        <p:nvSpPr>
          <p:cNvPr id="16" name="Oval 15"/>
          <p:cNvSpPr/>
          <p:nvPr/>
        </p:nvSpPr>
        <p:spPr>
          <a:xfrm>
            <a:off x="960120" y="2569464"/>
            <a:ext cx="274320" cy="27432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33272" y="2587752"/>
            <a:ext cx="128016" cy="128016"/>
          </a:xfrm>
          <a:prstGeom prst="rect">
            <a:avLst/>
          </a:prstGeom>
          <a:noFill/>
        </p:spPr>
        <p:txBody>
          <a:bodyPr wrap="square" anchor="t">
            <a:spAutoFit/>
          </a:bodyPr>
          <a:lstStyle/>
          <a:p>
            <a:pPr algn="ctr"/>
            <a:r>
              <a:rPr sz="1000" b="1">
                <a:solidFill>
                  <a:srgbClr val="FFFFFF"/>
                </a:solidFill>
                <a:latin typeface="Segoe UI"/>
              </a:rPr>
              <a:t>&gt;</a:t>
            </a:r>
          </a:p>
        </p:txBody>
      </p:sp>
      <p:sp>
        <p:nvSpPr>
          <p:cNvPr id="18" name="TextBox 17"/>
          <p:cNvSpPr txBox="1"/>
          <p:nvPr/>
        </p:nvSpPr>
        <p:spPr>
          <a:xfrm>
            <a:off x="1344168" y="2532888"/>
            <a:ext cx="10332720" cy="411480"/>
          </a:xfrm>
          <a:prstGeom prst="rect">
            <a:avLst/>
          </a:prstGeom>
          <a:noFill/>
        </p:spPr>
        <p:txBody>
          <a:bodyPr wrap="square" anchor="t">
            <a:spAutoFit/>
          </a:bodyPr>
          <a:lstStyle/>
          <a:p>
            <a:pPr algn="l"/>
            <a:r>
              <a:rPr sz="1300" b="0">
                <a:solidFill>
                  <a:srgbClr val="2E4055"/>
                </a:solidFill>
                <a:latin typeface="Segoe UI"/>
              </a:rPr>
              <a:t>Step 2: Data stored in database</a:t>
            </a:r>
          </a:p>
        </p:txBody>
      </p:sp>
      <p:sp>
        <p:nvSpPr>
          <p:cNvPr id="19" name="Oval 18"/>
          <p:cNvSpPr/>
          <p:nvPr/>
        </p:nvSpPr>
        <p:spPr>
          <a:xfrm>
            <a:off x="960120" y="2953512"/>
            <a:ext cx="274320" cy="27432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33272" y="2971800"/>
            <a:ext cx="128016" cy="128016"/>
          </a:xfrm>
          <a:prstGeom prst="rect">
            <a:avLst/>
          </a:prstGeom>
          <a:noFill/>
        </p:spPr>
        <p:txBody>
          <a:bodyPr wrap="square" anchor="t">
            <a:spAutoFit/>
          </a:bodyPr>
          <a:lstStyle/>
          <a:p>
            <a:pPr algn="ctr"/>
            <a:r>
              <a:rPr sz="1000" b="1">
                <a:solidFill>
                  <a:srgbClr val="FFFFFF"/>
                </a:solidFill>
                <a:latin typeface="Segoe UI"/>
              </a:rPr>
              <a:t>&gt;</a:t>
            </a:r>
          </a:p>
        </p:txBody>
      </p:sp>
      <p:sp>
        <p:nvSpPr>
          <p:cNvPr id="21" name="TextBox 20"/>
          <p:cNvSpPr txBox="1"/>
          <p:nvPr/>
        </p:nvSpPr>
        <p:spPr>
          <a:xfrm>
            <a:off x="1344168" y="2916936"/>
            <a:ext cx="10332720" cy="411480"/>
          </a:xfrm>
          <a:prstGeom prst="rect">
            <a:avLst/>
          </a:prstGeom>
          <a:noFill/>
        </p:spPr>
        <p:txBody>
          <a:bodyPr wrap="square" anchor="t">
            <a:spAutoFit/>
          </a:bodyPr>
          <a:lstStyle/>
          <a:p>
            <a:pPr algn="l"/>
            <a:r>
              <a:rPr sz="1300" b="0" dirty="0">
                <a:solidFill>
                  <a:srgbClr val="2E4055"/>
                </a:solidFill>
                <a:latin typeface="Segoe UI"/>
              </a:rPr>
              <a:t>Step 3: Categorization of expenses</a:t>
            </a:r>
          </a:p>
        </p:txBody>
      </p:sp>
      <p:sp>
        <p:nvSpPr>
          <p:cNvPr id="22" name="Oval 21"/>
          <p:cNvSpPr/>
          <p:nvPr/>
        </p:nvSpPr>
        <p:spPr>
          <a:xfrm>
            <a:off x="960120" y="3337560"/>
            <a:ext cx="274320" cy="27432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33272" y="3355848"/>
            <a:ext cx="128016" cy="128016"/>
          </a:xfrm>
          <a:prstGeom prst="rect">
            <a:avLst/>
          </a:prstGeom>
          <a:noFill/>
        </p:spPr>
        <p:txBody>
          <a:bodyPr wrap="square" anchor="t">
            <a:spAutoFit/>
          </a:bodyPr>
          <a:lstStyle/>
          <a:p>
            <a:pPr algn="ctr"/>
            <a:r>
              <a:rPr sz="1000" b="1">
                <a:solidFill>
                  <a:srgbClr val="FFFFFF"/>
                </a:solidFill>
                <a:latin typeface="Segoe UI"/>
              </a:rPr>
              <a:t>&gt;</a:t>
            </a:r>
          </a:p>
        </p:txBody>
      </p:sp>
      <p:sp>
        <p:nvSpPr>
          <p:cNvPr id="24" name="TextBox 23"/>
          <p:cNvSpPr txBox="1"/>
          <p:nvPr/>
        </p:nvSpPr>
        <p:spPr>
          <a:xfrm>
            <a:off x="1344168" y="3300984"/>
            <a:ext cx="10332720" cy="411480"/>
          </a:xfrm>
          <a:prstGeom prst="rect">
            <a:avLst/>
          </a:prstGeom>
          <a:noFill/>
        </p:spPr>
        <p:txBody>
          <a:bodyPr wrap="square" anchor="t">
            <a:spAutoFit/>
          </a:bodyPr>
          <a:lstStyle/>
          <a:p>
            <a:pPr algn="l"/>
            <a:r>
              <a:rPr sz="1300" b="0">
                <a:solidFill>
                  <a:srgbClr val="2E4055"/>
                </a:solidFill>
                <a:latin typeface="Segoe UI"/>
              </a:rPr>
              <a:t>Step 4: System calculates totals and budget</a:t>
            </a:r>
          </a:p>
        </p:txBody>
      </p:sp>
      <p:sp>
        <p:nvSpPr>
          <p:cNvPr id="25" name="Oval 24"/>
          <p:cNvSpPr/>
          <p:nvPr/>
        </p:nvSpPr>
        <p:spPr>
          <a:xfrm>
            <a:off x="960120" y="3721608"/>
            <a:ext cx="274320" cy="27432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33272" y="3739896"/>
            <a:ext cx="128016" cy="128016"/>
          </a:xfrm>
          <a:prstGeom prst="rect">
            <a:avLst/>
          </a:prstGeom>
          <a:noFill/>
        </p:spPr>
        <p:txBody>
          <a:bodyPr wrap="square" anchor="t">
            <a:spAutoFit/>
          </a:bodyPr>
          <a:lstStyle/>
          <a:p>
            <a:pPr algn="ctr"/>
            <a:r>
              <a:rPr sz="1000" b="1">
                <a:solidFill>
                  <a:srgbClr val="FFFFFF"/>
                </a:solidFill>
                <a:latin typeface="Segoe UI"/>
              </a:rPr>
              <a:t>&gt;</a:t>
            </a:r>
          </a:p>
        </p:txBody>
      </p:sp>
      <p:sp>
        <p:nvSpPr>
          <p:cNvPr id="27" name="TextBox 26"/>
          <p:cNvSpPr txBox="1"/>
          <p:nvPr/>
        </p:nvSpPr>
        <p:spPr>
          <a:xfrm>
            <a:off x="1344168" y="3685032"/>
            <a:ext cx="10332720" cy="411480"/>
          </a:xfrm>
          <a:prstGeom prst="rect">
            <a:avLst/>
          </a:prstGeom>
          <a:noFill/>
        </p:spPr>
        <p:txBody>
          <a:bodyPr wrap="square" anchor="t">
            <a:spAutoFit/>
          </a:bodyPr>
          <a:lstStyle/>
          <a:p>
            <a:pPr algn="l"/>
            <a:r>
              <a:rPr sz="1300" b="0">
                <a:solidFill>
                  <a:srgbClr val="2E4055"/>
                </a:solidFill>
                <a:latin typeface="Segoe UI"/>
              </a:rPr>
              <a:t>Step 5: Dashboard and reports displayed</a:t>
            </a:r>
          </a:p>
        </p:txBody>
      </p:sp>
      <p:sp>
        <p:nvSpPr>
          <p:cNvPr id="28" name="TextBox 27"/>
          <p:cNvSpPr txBox="1"/>
          <p:nvPr/>
        </p:nvSpPr>
        <p:spPr>
          <a:xfrm>
            <a:off x="822960" y="4251960"/>
            <a:ext cx="10972800" cy="320040"/>
          </a:xfrm>
          <a:prstGeom prst="rect">
            <a:avLst/>
          </a:prstGeom>
          <a:noFill/>
        </p:spPr>
        <p:txBody>
          <a:bodyPr wrap="square" anchor="t">
            <a:spAutoFit/>
          </a:bodyPr>
          <a:lstStyle/>
          <a:p>
            <a:pPr algn="l"/>
            <a:r>
              <a:rPr sz="1500" b="1">
                <a:solidFill>
                  <a:srgbClr val="112646"/>
                </a:solidFill>
                <a:latin typeface="Segoe UI"/>
              </a:rPr>
              <a:t>Flow Diagram</a:t>
            </a:r>
          </a:p>
        </p:txBody>
      </p:sp>
      <p:sp>
        <p:nvSpPr>
          <p:cNvPr id="29" name="Rounded Rectangle 28"/>
          <p:cNvSpPr/>
          <p:nvPr/>
        </p:nvSpPr>
        <p:spPr>
          <a:xfrm>
            <a:off x="731520" y="4617720"/>
            <a:ext cx="2057400" cy="914400"/>
          </a:xfrm>
          <a:prstGeom prst="roundRect">
            <a:avLst/>
          </a:prstGeom>
          <a:solidFill>
            <a:srgbClr val="EEF7FF"/>
          </a:solidFill>
          <a:ln w="1587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8680" y="4919472"/>
            <a:ext cx="1783080" cy="307777"/>
          </a:xfrm>
          <a:prstGeom prst="rect">
            <a:avLst/>
          </a:prstGeom>
          <a:noFill/>
        </p:spPr>
        <p:txBody>
          <a:bodyPr wrap="square" anchor="t">
            <a:spAutoFit/>
          </a:bodyPr>
          <a:lstStyle/>
          <a:p>
            <a:pPr algn="ctr"/>
            <a:r>
              <a:rPr sz="1400" b="1" dirty="0">
                <a:solidFill>
                  <a:srgbClr val="112646"/>
                </a:solidFill>
                <a:latin typeface="Segoe UI"/>
              </a:rPr>
              <a:t>User</a:t>
            </a:r>
            <a:r>
              <a:rPr lang="en-US" sz="1400" b="1" dirty="0">
                <a:solidFill>
                  <a:srgbClr val="112646"/>
                </a:solidFill>
                <a:latin typeface="Segoe UI"/>
              </a:rPr>
              <a:t> Input</a:t>
            </a:r>
            <a:endParaRPr sz="1400" b="1" dirty="0">
              <a:solidFill>
                <a:srgbClr val="112646"/>
              </a:solidFill>
              <a:latin typeface="Segoe UI"/>
            </a:endParaRPr>
          </a:p>
        </p:txBody>
      </p:sp>
      <p:sp>
        <p:nvSpPr>
          <p:cNvPr id="31" name="Chevron 30"/>
          <p:cNvSpPr/>
          <p:nvPr/>
        </p:nvSpPr>
        <p:spPr>
          <a:xfrm>
            <a:off x="2816351" y="4882896"/>
            <a:ext cx="182880" cy="384048"/>
          </a:xfrm>
          <a:prstGeom prst="chevron">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3017520" y="4617720"/>
            <a:ext cx="2057400" cy="914400"/>
          </a:xfrm>
          <a:prstGeom prst="roundRect">
            <a:avLst/>
          </a:prstGeom>
          <a:solidFill>
            <a:srgbClr val="EEF7FF"/>
          </a:solidFill>
          <a:ln w="1587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54679" y="4849886"/>
            <a:ext cx="1783080" cy="523220"/>
          </a:xfrm>
          <a:prstGeom prst="rect">
            <a:avLst/>
          </a:prstGeom>
          <a:noFill/>
        </p:spPr>
        <p:txBody>
          <a:bodyPr wrap="square" anchor="t">
            <a:spAutoFit/>
          </a:bodyPr>
          <a:lstStyle/>
          <a:p>
            <a:pPr algn="ctr"/>
            <a:r>
              <a:rPr lang="en-US" sz="1400" b="1" dirty="0">
                <a:solidFill>
                  <a:srgbClr val="112646"/>
                </a:solidFill>
                <a:latin typeface="Segoe UI"/>
              </a:rPr>
              <a:t>Data Stored in </a:t>
            </a:r>
            <a:r>
              <a:rPr sz="1400" b="1" dirty="0">
                <a:solidFill>
                  <a:srgbClr val="112646"/>
                </a:solidFill>
                <a:latin typeface="Segoe UI"/>
              </a:rPr>
              <a:t>Database</a:t>
            </a:r>
          </a:p>
        </p:txBody>
      </p:sp>
      <p:sp>
        <p:nvSpPr>
          <p:cNvPr id="34" name="Chevron 33"/>
          <p:cNvSpPr/>
          <p:nvPr/>
        </p:nvSpPr>
        <p:spPr>
          <a:xfrm>
            <a:off x="5102352" y="4882896"/>
            <a:ext cx="182880" cy="384048"/>
          </a:xfrm>
          <a:prstGeom prst="chevron">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5303520" y="4617720"/>
            <a:ext cx="2057400" cy="914400"/>
          </a:xfrm>
          <a:prstGeom prst="roundRect">
            <a:avLst/>
          </a:prstGeom>
          <a:solidFill>
            <a:srgbClr val="EEF7FF"/>
          </a:solidFill>
          <a:ln w="1587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440680" y="4919472"/>
            <a:ext cx="1783080" cy="274320"/>
          </a:xfrm>
          <a:prstGeom prst="rect">
            <a:avLst/>
          </a:prstGeom>
          <a:noFill/>
        </p:spPr>
        <p:txBody>
          <a:bodyPr wrap="square" anchor="t">
            <a:spAutoFit/>
          </a:bodyPr>
          <a:lstStyle/>
          <a:p>
            <a:pPr algn="ctr"/>
            <a:r>
              <a:rPr sz="1400" b="1">
                <a:solidFill>
                  <a:srgbClr val="112646"/>
                </a:solidFill>
                <a:latin typeface="Segoe UI"/>
              </a:rPr>
              <a:t>Categorization</a:t>
            </a:r>
          </a:p>
        </p:txBody>
      </p:sp>
      <p:sp>
        <p:nvSpPr>
          <p:cNvPr id="37" name="Chevron 36"/>
          <p:cNvSpPr/>
          <p:nvPr/>
        </p:nvSpPr>
        <p:spPr>
          <a:xfrm>
            <a:off x="7388352" y="4882896"/>
            <a:ext cx="182880" cy="384048"/>
          </a:xfrm>
          <a:prstGeom prst="chevron">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7589520" y="4617720"/>
            <a:ext cx="2057400" cy="914400"/>
          </a:xfrm>
          <a:prstGeom prst="roundRect">
            <a:avLst/>
          </a:prstGeom>
          <a:solidFill>
            <a:srgbClr val="EEF7FF"/>
          </a:solidFill>
          <a:ln w="1587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726680" y="4919472"/>
            <a:ext cx="1783080" cy="274320"/>
          </a:xfrm>
          <a:prstGeom prst="rect">
            <a:avLst/>
          </a:prstGeom>
          <a:noFill/>
        </p:spPr>
        <p:txBody>
          <a:bodyPr wrap="square" anchor="t">
            <a:spAutoFit/>
          </a:bodyPr>
          <a:lstStyle/>
          <a:p>
            <a:pPr algn="ctr"/>
            <a:r>
              <a:rPr sz="1400" b="1">
                <a:solidFill>
                  <a:srgbClr val="112646"/>
                </a:solidFill>
                <a:latin typeface="Segoe UI"/>
              </a:rPr>
              <a:t>Calculation</a:t>
            </a:r>
          </a:p>
        </p:txBody>
      </p:sp>
      <p:sp>
        <p:nvSpPr>
          <p:cNvPr id="40" name="Chevron 39"/>
          <p:cNvSpPr/>
          <p:nvPr/>
        </p:nvSpPr>
        <p:spPr>
          <a:xfrm>
            <a:off x="9674352" y="4882896"/>
            <a:ext cx="182880" cy="384048"/>
          </a:xfrm>
          <a:prstGeom prst="chevron">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9875520" y="4617720"/>
            <a:ext cx="2057400" cy="914400"/>
          </a:xfrm>
          <a:prstGeom prst="roundRect">
            <a:avLst/>
          </a:prstGeom>
          <a:solidFill>
            <a:srgbClr val="EEF7FF"/>
          </a:solidFill>
          <a:ln w="1587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012680" y="4843596"/>
            <a:ext cx="1783080" cy="523220"/>
          </a:xfrm>
          <a:prstGeom prst="rect">
            <a:avLst/>
          </a:prstGeom>
          <a:noFill/>
        </p:spPr>
        <p:txBody>
          <a:bodyPr wrap="square" anchor="t">
            <a:spAutoFit/>
          </a:bodyPr>
          <a:lstStyle/>
          <a:p>
            <a:pPr algn="ctr"/>
            <a:r>
              <a:rPr sz="1400" b="1" dirty="0">
                <a:solidFill>
                  <a:srgbClr val="112646"/>
                </a:solidFill>
                <a:latin typeface="Segoe UI"/>
              </a:rPr>
              <a:t>Reports</a:t>
            </a:r>
            <a:r>
              <a:rPr lang="en-US" sz="1400" b="1" dirty="0">
                <a:solidFill>
                  <a:srgbClr val="112646"/>
                </a:solidFill>
                <a:latin typeface="Segoe UI"/>
              </a:rPr>
              <a:t> &amp; Dashboard</a:t>
            </a:r>
            <a:endParaRPr sz="1400" b="1" dirty="0">
              <a:solidFill>
                <a:srgbClr val="112646"/>
              </a:solidFill>
              <a:latin typeface="Segoe UI"/>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fade">
                                      <p:cBhvr>
                                        <p:cTn id="11" dur="500"/>
                                        <p:tgtEl>
                                          <p:spTgt spid="3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fade">
                                      <p:cBhvr>
                                        <p:cTn id="15" dur="500"/>
                                        <p:tgtEl>
                                          <p:spTgt spid="37"/>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37" grpId="0" animBg="1"/>
      <p:bldP spid="4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868680"/>
            <a:ext cx="3200400" cy="32004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966960" y="4937760"/>
            <a:ext cx="2468880" cy="24688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469880" y="310896"/>
            <a:ext cx="109728" cy="1645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634472" y="182880"/>
            <a:ext cx="10972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799063" y="64008"/>
            <a:ext cx="109728" cy="4114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63655" y="219456"/>
            <a:ext cx="10972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84048"/>
            <a:ext cx="9235440" cy="615553"/>
          </a:xfrm>
          <a:prstGeom prst="rect">
            <a:avLst/>
          </a:prstGeom>
          <a:noFill/>
        </p:spPr>
        <p:txBody>
          <a:bodyPr wrap="square" anchor="t">
            <a:noAutofit/>
          </a:bodyPr>
          <a:lstStyle/>
          <a:p>
            <a:r>
              <a:rPr lang="en-IN" sz="3000" b="1">
                <a:solidFill>
                  <a:srgbClr val="12233A"/>
                </a:solidFill>
                <a:latin typeface="Segoe UI"/>
              </a:rPr>
              <a:t>System Requirements</a:t>
            </a:r>
            <a:endParaRPr lang="en-IN" sz="3000" b="1" dirty="0">
              <a:solidFill>
                <a:srgbClr val="12233A"/>
              </a:solidFill>
              <a:latin typeface="Segoe UI"/>
            </a:endParaRPr>
          </a:p>
        </p:txBody>
      </p:sp>
      <p:sp>
        <p:nvSpPr>
          <p:cNvPr id="43" name="TextBox 42">
            <a:extLst>
              <a:ext uri="{FF2B5EF4-FFF2-40B4-BE49-F238E27FC236}">
                <a16:creationId xmlns:a16="http://schemas.microsoft.com/office/drawing/2014/main" id="{BA357E53-E2E4-958E-A032-98921CB2CAA7}"/>
              </a:ext>
            </a:extLst>
          </p:cNvPr>
          <p:cNvSpPr txBox="1"/>
          <p:nvPr/>
        </p:nvSpPr>
        <p:spPr>
          <a:xfrm>
            <a:off x="762000" y="1092200"/>
            <a:ext cx="10668000" cy="369332"/>
          </a:xfrm>
          <a:prstGeom prst="rect">
            <a:avLst/>
          </a:prstGeom>
          <a:noFill/>
        </p:spPr>
        <p:txBody>
          <a:bodyPr vert="horz" rtlCol="0">
            <a:noAutofit/>
          </a:bodyPr>
          <a:lstStyle/>
          <a:p>
            <a:r>
              <a:rPr lang="en-US" sz="2000" dirty="0"/>
              <a:t>Minimum setup required for developing and running the Expense Tracker System</a:t>
            </a:r>
            <a:endParaRPr lang="en-IN" sz="2000" dirty="0"/>
          </a:p>
        </p:txBody>
      </p:sp>
      <p:sp>
        <p:nvSpPr>
          <p:cNvPr id="44" name="Rectangle: Rounded Corners 43">
            <a:extLst>
              <a:ext uri="{FF2B5EF4-FFF2-40B4-BE49-F238E27FC236}">
                <a16:creationId xmlns:a16="http://schemas.microsoft.com/office/drawing/2014/main" id="{2BA44F76-8DA2-87C2-A979-2EE6A144DADD}"/>
              </a:ext>
            </a:extLst>
          </p:cNvPr>
          <p:cNvSpPr/>
          <p:nvPr/>
        </p:nvSpPr>
        <p:spPr>
          <a:xfrm>
            <a:off x="736600" y="1549400"/>
            <a:ext cx="5130800" cy="3090694"/>
          </a:xfrm>
          <a:prstGeom prst="roundRect">
            <a:avLst/>
          </a:prstGeom>
          <a:gradFill flip="none" rotWithShape="1">
            <a:gsLst>
              <a:gs pos="0">
                <a:srgbClr val="FFFFFF">
                  <a:alpha val="92000"/>
                </a:srgbClr>
              </a:gs>
              <a:gs pos="100000">
                <a:schemeClr val="accent1">
                  <a:tint val="50000"/>
                  <a:shade val="100000"/>
                  <a:satMod val="350000"/>
                  <a:alpha val="92000"/>
                </a:schemeClr>
              </a:gs>
            </a:gsLst>
            <a:lin ang="16200000" scaled="0"/>
            <a:tileRect/>
          </a:gradFill>
          <a:ln w="15875">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5" name="TextBox 44">
            <a:extLst>
              <a:ext uri="{FF2B5EF4-FFF2-40B4-BE49-F238E27FC236}">
                <a16:creationId xmlns:a16="http://schemas.microsoft.com/office/drawing/2014/main" id="{C29D51CF-0196-ABEF-F1BC-AC52163DD4E6}"/>
              </a:ext>
            </a:extLst>
          </p:cNvPr>
          <p:cNvSpPr txBox="1"/>
          <p:nvPr/>
        </p:nvSpPr>
        <p:spPr>
          <a:xfrm>
            <a:off x="965200" y="1727200"/>
            <a:ext cx="4673600" cy="369332"/>
          </a:xfrm>
          <a:prstGeom prst="rect">
            <a:avLst/>
          </a:prstGeom>
          <a:noFill/>
        </p:spPr>
        <p:txBody>
          <a:bodyPr vert="horz" rtlCol="0">
            <a:spAutoFit/>
          </a:bodyPr>
          <a:lstStyle/>
          <a:p>
            <a:r>
              <a:rPr lang="en-IN" b="1" dirty="0"/>
              <a:t>Hardware Requirements</a:t>
            </a:r>
          </a:p>
        </p:txBody>
      </p:sp>
      <p:sp>
        <p:nvSpPr>
          <p:cNvPr id="46" name="TextBox 45">
            <a:extLst>
              <a:ext uri="{FF2B5EF4-FFF2-40B4-BE49-F238E27FC236}">
                <a16:creationId xmlns:a16="http://schemas.microsoft.com/office/drawing/2014/main" id="{E9F9BCBF-67CE-903A-5E80-042B3DA145B7}"/>
              </a:ext>
            </a:extLst>
          </p:cNvPr>
          <p:cNvSpPr txBox="1"/>
          <p:nvPr/>
        </p:nvSpPr>
        <p:spPr>
          <a:xfrm>
            <a:off x="965200" y="2159000"/>
            <a:ext cx="4673600" cy="1092607"/>
          </a:xfrm>
          <a:prstGeom prst="rect">
            <a:avLst/>
          </a:prstGeom>
          <a:noFill/>
        </p:spPr>
        <p:txBody>
          <a:bodyPr vert="horz" wrap="square" rtlCol="0">
            <a:noAutofit/>
          </a:bodyPr>
          <a:lstStyle/>
          <a:p>
            <a:r>
              <a:rPr lang="en-IN" sz="2000" dirty="0"/>
              <a:t>• Processor: Intel i3 / </a:t>
            </a:r>
            <a:r>
              <a:rPr lang="en-IN" sz="2000" dirty="0" err="1"/>
              <a:t>Ryzen</a:t>
            </a:r>
            <a:r>
              <a:rPr lang="en-IN" sz="2000" dirty="0"/>
              <a:t> 3 or higher</a:t>
            </a:r>
          </a:p>
          <a:p>
            <a:r>
              <a:rPr lang="en-IN" sz="2000" dirty="0"/>
              <a:t>• RAM: 4 GB minimum (8 GB recommended)</a:t>
            </a:r>
          </a:p>
          <a:p>
            <a:r>
              <a:rPr lang="en-IN" sz="2000" dirty="0"/>
              <a:t>• Storage: 500 MB free disk space</a:t>
            </a:r>
          </a:p>
          <a:p>
            <a:r>
              <a:rPr lang="en-IN" sz="2000" dirty="0"/>
              <a:t>• Display: 1366 x 768 resolution</a:t>
            </a:r>
          </a:p>
          <a:p>
            <a:r>
              <a:rPr lang="en-IN" sz="2000" dirty="0"/>
              <a:t>• Internet: Stable connection for updates</a:t>
            </a:r>
          </a:p>
        </p:txBody>
      </p:sp>
      <p:sp>
        <p:nvSpPr>
          <p:cNvPr id="47" name="Rectangle: Rounded Corners 46">
            <a:extLst>
              <a:ext uri="{FF2B5EF4-FFF2-40B4-BE49-F238E27FC236}">
                <a16:creationId xmlns:a16="http://schemas.microsoft.com/office/drawing/2014/main" id="{F90429FD-5A01-8135-2201-58D92CB5BED9}"/>
              </a:ext>
            </a:extLst>
          </p:cNvPr>
          <p:cNvSpPr/>
          <p:nvPr/>
        </p:nvSpPr>
        <p:spPr>
          <a:xfrm>
            <a:off x="6324600" y="1549400"/>
            <a:ext cx="5130800" cy="3090694"/>
          </a:xfrm>
          <a:prstGeom prst="roundRect">
            <a:avLst/>
          </a:prstGeom>
          <a:gradFill flip="none" rotWithShape="1">
            <a:gsLst>
              <a:gs pos="0">
                <a:srgbClr val="FFFFFF">
                  <a:alpha val="92000"/>
                </a:srgbClr>
              </a:gs>
              <a:gs pos="100000">
                <a:schemeClr val="accent1">
                  <a:tint val="50000"/>
                  <a:shade val="100000"/>
                  <a:satMod val="350000"/>
                  <a:alpha val="92000"/>
                </a:schemeClr>
              </a:gs>
            </a:gsLst>
            <a:lin ang="16200000" scaled="0"/>
            <a:tileRect/>
          </a:gradFill>
          <a:ln w="15875">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8" name="TextBox 47">
            <a:extLst>
              <a:ext uri="{FF2B5EF4-FFF2-40B4-BE49-F238E27FC236}">
                <a16:creationId xmlns:a16="http://schemas.microsoft.com/office/drawing/2014/main" id="{146C5C32-2400-51B0-72AB-23B42E464995}"/>
              </a:ext>
            </a:extLst>
          </p:cNvPr>
          <p:cNvSpPr txBox="1"/>
          <p:nvPr/>
        </p:nvSpPr>
        <p:spPr>
          <a:xfrm>
            <a:off x="6553200" y="1727200"/>
            <a:ext cx="4673600" cy="369332"/>
          </a:xfrm>
          <a:prstGeom prst="rect">
            <a:avLst/>
          </a:prstGeom>
          <a:noFill/>
        </p:spPr>
        <p:txBody>
          <a:bodyPr vert="horz" rtlCol="0">
            <a:spAutoFit/>
          </a:bodyPr>
          <a:lstStyle/>
          <a:p>
            <a:r>
              <a:rPr lang="en-IN" b="1"/>
              <a:t>Software Requirements</a:t>
            </a:r>
          </a:p>
        </p:txBody>
      </p:sp>
      <p:sp>
        <p:nvSpPr>
          <p:cNvPr id="49" name="TextBox 48">
            <a:extLst>
              <a:ext uri="{FF2B5EF4-FFF2-40B4-BE49-F238E27FC236}">
                <a16:creationId xmlns:a16="http://schemas.microsoft.com/office/drawing/2014/main" id="{BA456FE8-5999-0F4F-E09D-A5EFBE737666}"/>
              </a:ext>
            </a:extLst>
          </p:cNvPr>
          <p:cNvSpPr txBox="1"/>
          <p:nvPr/>
        </p:nvSpPr>
        <p:spPr>
          <a:xfrm>
            <a:off x="6553200" y="2159000"/>
            <a:ext cx="4673600" cy="1292662"/>
          </a:xfrm>
          <a:prstGeom prst="rect">
            <a:avLst/>
          </a:prstGeom>
          <a:noFill/>
        </p:spPr>
        <p:txBody>
          <a:bodyPr vert="horz" wrap="square" rtlCol="0">
            <a:noAutofit/>
          </a:bodyPr>
          <a:lstStyle/>
          <a:p>
            <a:r>
              <a:rPr lang="en-IN" sz="2000" dirty="0"/>
              <a:t>• Operating System: Windows 10/11</a:t>
            </a:r>
          </a:p>
          <a:p>
            <a:r>
              <a:rPr lang="en-IN" sz="2000" dirty="0"/>
              <a:t>• Frontend: HTML, CSS, JavaScript</a:t>
            </a:r>
          </a:p>
          <a:p>
            <a:r>
              <a:rPr lang="en-IN" sz="2000" dirty="0"/>
              <a:t>• Backend: Python 3.x with Flask</a:t>
            </a:r>
          </a:p>
          <a:p>
            <a:r>
              <a:rPr lang="en-IN" sz="2000" dirty="0"/>
              <a:t>• Database: MongoDB</a:t>
            </a:r>
          </a:p>
          <a:p>
            <a:r>
              <a:rPr lang="en-IN" sz="2000" dirty="0"/>
              <a:t>• Browser: Chrome / Edge / Firefox (latest)</a:t>
            </a:r>
          </a:p>
          <a:p>
            <a:r>
              <a:rPr lang="en-IN" sz="2000" dirty="0"/>
              <a:t>• Tools: VS Code, Git (optional)</a:t>
            </a:r>
          </a:p>
        </p:txBody>
      </p:sp>
    </p:spTree>
    <p:extLst>
      <p:ext uri="{BB962C8B-B14F-4D97-AF65-F5344CB8AC3E}">
        <p14:creationId xmlns:p14="http://schemas.microsoft.com/office/powerpoint/2010/main" val="1469672320"/>
      </p:ext>
    </p:extLst>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215679"/>
            <a:ext cx="12191695"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868680"/>
            <a:ext cx="3200400" cy="32004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966960" y="4937760"/>
            <a:ext cx="2468880" cy="24688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469880" y="310896"/>
            <a:ext cx="109728" cy="1645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634472" y="182880"/>
            <a:ext cx="10972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799063" y="64008"/>
            <a:ext cx="109728" cy="4114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63655" y="219456"/>
            <a:ext cx="10972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8660" y="299720"/>
            <a:ext cx="9235440" cy="749808"/>
          </a:xfrm>
          <a:prstGeom prst="rect">
            <a:avLst/>
          </a:prstGeom>
          <a:noFill/>
        </p:spPr>
        <p:txBody>
          <a:bodyPr wrap="square" anchor="t">
            <a:spAutoFit/>
          </a:bodyPr>
          <a:lstStyle/>
          <a:p>
            <a:pPr algn="l"/>
            <a:r>
              <a:rPr sz="3400" b="1" dirty="0">
                <a:solidFill>
                  <a:srgbClr val="112646"/>
                </a:solidFill>
                <a:latin typeface="Segoe UI"/>
              </a:rPr>
              <a:t>Advantages</a:t>
            </a:r>
          </a:p>
        </p:txBody>
      </p:sp>
      <p:sp>
        <p:nvSpPr>
          <p:cNvPr id="13" name="TextBox 12"/>
          <p:cNvSpPr txBox="1"/>
          <p:nvPr/>
        </p:nvSpPr>
        <p:spPr>
          <a:xfrm>
            <a:off x="1197864" y="1084674"/>
            <a:ext cx="10332720" cy="411480"/>
          </a:xfrm>
          <a:prstGeom prst="rect">
            <a:avLst/>
          </a:prstGeom>
          <a:noFill/>
        </p:spPr>
        <p:txBody>
          <a:bodyPr wrap="square" anchor="t">
            <a:spAutoFit/>
          </a:bodyPr>
          <a:lstStyle/>
          <a:p>
            <a:pPr algn="l"/>
            <a:r>
              <a:rPr sz="1800" b="0" dirty="0">
                <a:solidFill>
                  <a:srgbClr val="2E4055"/>
                </a:solidFill>
                <a:latin typeface="Segoe UI"/>
              </a:rPr>
              <a:t>Easy to use</a:t>
            </a:r>
          </a:p>
        </p:txBody>
      </p:sp>
      <p:sp>
        <p:nvSpPr>
          <p:cNvPr id="16" name="TextBox 15"/>
          <p:cNvSpPr txBox="1"/>
          <p:nvPr/>
        </p:nvSpPr>
        <p:spPr>
          <a:xfrm>
            <a:off x="1152939" y="2357181"/>
            <a:ext cx="10332720" cy="411480"/>
          </a:xfrm>
          <a:prstGeom prst="rect">
            <a:avLst/>
          </a:prstGeom>
          <a:noFill/>
        </p:spPr>
        <p:txBody>
          <a:bodyPr wrap="square" anchor="t">
            <a:spAutoFit/>
          </a:bodyPr>
          <a:lstStyle/>
          <a:p>
            <a:pPr algn="l"/>
            <a:r>
              <a:rPr sz="1800" b="0" dirty="0">
                <a:solidFill>
                  <a:srgbClr val="2E4055"/>
                </a:solidFill>
                <a:latin typeface="Segoe UI"/>
              </a:rPr>
              <a:t>Saves time and effort</a:t>
            </a:r>
          </a:p>
        </p:txBody>
      </p:sp>
      <p:sp>
        <p:nvSpPr>
          <p:cNvPr id="19" name="TextBox 18"/>
          <p:cNvSpPr txBox="1"/>
          <p:nvPr/>
        </p:nvSpPr>
        <p:spPr>
          <a:xfrm>
            <a:off x="1152939" y="3806049"/>
            <a:ext cx="10332720" cy="411480"/>
          </a:xfrm>
          <a:prstGeom prst="rect">
            <a:avLst/>
          </a:prstGeom>
          <a:noFill/>
        </p:spPr>
        <p:txBody>
          <a:bodyPr wrap="square" anchor="t">
            <a:spAutoFit/>
          </a:bodyPr>
          <a:lstStyle/>
          <a:p>
            <a:pPr algn="l"/>
            <a:r>
              <a:rPr sz="1800" b="0" dirty="0">
                <a:solidFill>
                  <a:srgbClr val="2E4055"/>
                </a:solidFill>
                <a:latin typeface="Segoe UI"/>
              </a:rPr>
              <a:t>Improves financial management</a:t>
            </a:r>
          </a:p>
        </p:txBody>
      </p:sp>
      <p:sp>
        <p:nvSpPr>
          <p:cNvPr id="22" name="TextBox 21"/>
          <p:cNvSpPr txBox="1"/>
          <p:nvPr/>
        </p:nvSpPr>
        <p:spPr>
          <a:xfrm>
            <a:off x="1152939" y="1708818"/>
            <a:ext cx="10332720" cy="411480"/>
          </a:xfrm>
          <a:prstGeom prst="rect">
            <a:avLst/>
          </a:prstGeom>
          <a:noFill/>
        </p:spPr>
        <p:txBody>
          <a:bodyPr wrap="square" anchor="t">
            <a:spAutoFit/>
          </a:bodyPr>
          <a:lstStyle/>
          <a:p>
            <a:pPr algn="l"/>
            <a:r>
              <a:rPr sz="1800" b="0" dirty="0">
                <a:solidFill>
                  <a:srgbClr val="2E4055"/>
                </a:solidFill>
                <a:latin typeface="Segoe UI"/>
              </a:rPr>
              <a:t>Reduces overspending</a:t>
            </a:r>
          </a:p>
        </p:txBody>
      </p:sp>
      <p:sp>
        <p:nvSpPr>
          <p:cNvPr id="25" name="TextBox 24"/>
          <p:cNvSpPr txBox="1"/>
          <p:nvPr/>
        </p:nvSpPr>
        <p:spPr>
          <a:xfrm>
            <a:off x="1152939" y="3099380"/>
            <a:ext cx="10332720" cy="411480"/>
          </a:xfrm>
          <a:prstGeom prst="rect">
            <a:avLst/>
          </a:prstGeom>
          <a:noFill/>
        </p:spPr>
        <p:txBody>
          <a:bodyPr wrap="square" anchor="t">
            <a:spAutoFit/>
          </a:bodyPr>
          <a:lstStyle/>
          <a:p>
            <a:pPr algn="l"/>
            <a:r>
              <a:rPr sz="1800" b="0" dirty="0">
                <a:solidFill>
                  <a:srgbClr val="2E4055"/>
                </a:solidFill>
                <a:latin typeface="Segoe UI"/>
              </a:rPr>
              <a:t>Organized records</a:t>
            </a:r>
          </a:p>
        </p:txBody>
      </p:sp>
      <p:sp>
        <p:nvSpPr>
          <p:cNvPr id="28" name="TextBox 27"/>
          <p:cNvSpPr txBox="1"/>
          <p:nvPr/>
        </p:nvSpPr>
        <p:spPr>
          <a:xfrm>
            <a:off x="1197864" y="4503818"/>
            <a:ext cx="10332720" cy="411480"/>
          </a:xfrm>
          <a:prstGeom prst="rect">
            <a:avLst/>
          </a:prstGeom>
          <a:noFill/>
        </p:spPr>
        <p:txBody>
          <a:bodyPr wrap="square" anchor="t">
            <a:spAutoFit/>
          </a:bodyPr>
          <a:lstStyle/>
          <a:p>
            <a:pPr algn="l"/>
            <a:r>
              <a:rPr sz="1800" b="0" dirty="0">
                <a:solidFill>
                  <a:srgbClr val="2E4055"/>
                </a:solidFill>
                <a:latin typeface="Segoe UI"/>
              </a:rPr>
              <a:t>Visual data representation</a:t>
            </a:r>
          </a:p>
        </p:txBody>
      </p:sp>
      <p:sp>
        <p:nvSpPr>
          <p:cNvPr id="29" name="TextBox 28">
            <a:extLst>
              <a:ext uri="{FF2B5EF4-FFF2-40B4-BE49-F238E27FC236}">
                <a16:creationId xmlns:a16="http://schemas.microsoft.com/office/drawing/2014/main" id="{CC7C6C83-E934-8B7D-0B5B-AECD027438BC}"/>
              </a:ext>
            </a:extLst>
          </p:cNvPr>
          <p:cNvSpPr txBox="1"/>
          <p:nvPr/>
        </p:nvSpPr>
        <p:spPr>
          <a:xfrm>
            <a:off x="6694779" y="1832942"/>
            <a:ext cx="10332720" cy="411480"/>
          </a:xfrm>
          <a:prstGeom prst="rect">
            <a:avLst/>
          </a:prstGeom>
          <a:noFill/>
        </p:spPr>
        <p:txBody>
          <a:bodyPr wrap="square" anchor="t">
            <a:spAutoFit/>
          </a:bodyPr>
          <a:lstStyle/>
          <a:p>
            <a:pPr algn="l"/>
            <a:r>
              <a:rPr sz="1900" b="0" dirty="0">
                <a:solidFill>
                  <a:srgbClr val="2E4055"/>
                </a:solidFill>
                <a:latin typeface="Segoe UI"/>
              </a:rPr>
              <a:t>Single-user system</a:t>
            </a:r>
          </a:p>
        </p:txBody>
      </p:sp>
      <p:sp>
        <p:nvSpPr>
          <p:cNvPr id="30" name="TextBox 29">
            <a:extLst>
              <a:ext uri="{FF2B5EF4-FFF2-40B4-BE49-F238E27FC236}">
                <a16:creationId xmlns:a16="http://schemas.microsoft.com/office/drawing/2014/main" id="{1AAE2B40-AB5E-735C-53FA-CDE98842E2AF}"/>
              </a:ext>
            </a:extLst>
          </p:cNvPr>
          <p:cNvSpPr txBox="1"/>
          <p:nvPr/>
        </p:nvSpPr>
        <p:spPr>
          <a:xfrm>
            <a:off x="6519672" y="422148"/>
            <a:ext cx="9235440" cy="749808"/>
          </a:xfrm>
          <a:prstGeom prst="rect">
            <a:avLst/>
          </a:prstGeom>
          <a:noFill/>
        </p:spPr>
        <p:txBody>
          <a:bodyPr wrap="square" anchor="t">
            <a:spAutoFit/>
          </a:bodyPr>
          <a:lstStyle/>
          <a:p>
            <a:pPr algn="l"/>
            <a:r>
              <a:rPr sz="3400" b="1" dirty="0">
                <a:solidFill>
                  <a:srgbClr val="112646"/>
                </a:solidFill>
                <a:latin typeface="Segoe UI"/>
              </a:rPr>
              <a:t>Limitations</a:t>
            </a:r>
          </a:p>
        </p:txBody>
      </p:sp>
      <p:sp>
        <p:nvSpPr>
          <p:cNvPr id="31" name="TextBox 30">
            <a:extLst>
              <a:ext uri="{FF2B5EF4-FFF2-40B4-BE49-F238E27FC236}">
                <a16:creationId xmlns:a16="http://schemas.microsoft.com/office/drawing/2014/main" id="{96CC1E6C-73D8-BD37-472F-F2738E396302}"/>
              </a:ext>
            </a:extLst>
          </p:cNvPr>
          <p:cNvSpPr txBox="1"/>
          <p:nvPr/>
        </p:nvSpPr>
        <p:spPr>
          <a:xfrm>
            <a:off x="6694779" y="1194678"/>
            <a:ext cx="10332720" cy="411480"/>
          </a:xfrm>
          <a:prstGeom prst="rect">
            <a:avLst/>
          </a:prstGeom>
          <a:noFill/>
        </p:spPr>
        <p:txBody>
          <a:bodyPr wrap="square" anchor="t">
            <a:spAutoFit/>
          </a:bodyPr>
          <a:lstStyle/>
          <a:p>
            <a:pPr algn="l"/>
            <a:r>
              <a:rPr sz="1900" b="0" dirty="0">
                <a:solidFill>
                  <a:srgbClr val="2E4055"/>
                </a:solidFill>
                <a:latin typeface="Segoe UI"/>
              </a:rPr>
              <a:t>No cloud backup</a:t>
            </a:r>
          </a:p>
        </p:txBody>
      </p:sp>
      <p:sp>
        <p:nvSpPr>
          <p:cNvPr id="32" name="TextBox 31">
            <a:extLst>
              <a:ext uri="{FF2B5EF4-FFF2-40B4-BE49-F238E27FC236}">
                <a16:creationId xmlns:a16="http://schemas.microsoft.com/office/drawing/2014/main" id="{7CF4F161-4827-285F-CFE0-6EB9EFACE78C}"/>
              </a:ext>
            </a:extLst>
          </p:cNvPr>
          <p:cNvSpPr txBox="1"/>
          <p:nvPr/>
        </p:nvSpPr>
        <p:spPr>
          <a:xfrm>
            <a:off x="6694779" y="2451017"/>
            <a:ext cx="10332720" cy="411480"/>
          </a:xfrm>
          <a:prstGeom prst="rect">
            <a:avLst/>
          </a:prstGeom>
          <a:noFill/>
        </p:spPr>
        <p:txBody>
          <a:bodyPr wrap="square" anchor="t">
            <a:spAutoFit/>
          </a:bodyPr>
          <a:lstStyle/>
          <a:p>
            <a:pPr algn="l"/>
            <a:r>
              <a:rPr sz="1900" b="0" dirty="0">
                <a:solidFill>
                  <a:srgbClr val="2E4055"/>
                </a:solidFill>
                <a:latin typeface="Segoe UI"/>
              </a:rPr>
              <a:t>Limited advanced analytics</a:t>
            </a:r>
          </a:p>
        </p:txBody>
      </p:sp>
      <p:sp>
        <p:nvSpPr>
          <p:cNvPr id="34" name="TextBox 33">
            <a:extLst>
              <a:ext uri="{FF2B5EF4-FFF2-40B4-BE49-F238E27FC236}">
                <a16:creationId xmlns:a16="http://schemas.microsoft.com/office/drawing/2014/main" id="{480066C7-872E-F849-88B1-42AAAE19DA32}"/>
              </a:ext>
            </a:extLst>
          </p:cNvPr>
          <p:cNvSpPr txBox="1"/>
          <p:nvPr/>
        </p:nvSpPr>
        <p:spPr>
          <a:xfrm>
            <a:off x="6694779" y="3062221"/>
            <a:ext cx="10332720" cy="411480"/>
          </a:xfrm>
          <a:prstGeom prst="rect">
            <a:avLst/>
          </a:prstGeom>
          <a:noFill/>
        </p:spPr>
        <p:txBody>
          <a:bodyPr wrap="square" anchor="t">
            <a:spAutoFit/>
          </a:bodyPr>
          <a:lstStyle/>
          <a:p>
            <a:pPr algn="l"/>
            <a:r>
              <a:rPr sz="1900" b="0" dirty="0">
                <a:solidFill>
                  <a:srgbClr val="2E4055"/>
                </a:solidFill>
                <a:latin typeface="Segoe UI"/>
              </a:rPr>
              <a:t>Manual data entry required</a:t>
            </a:r>
          </a:p>
        </p:txBody>
      </p:sp>
      <p:sp>
        <p:nvSpPr>
          <p:cNvPr id="12" name="Oval 11">
            <a:extLst>
              <a:ext uri="{FF2B5EF4-FFF2-40B4-BE49-F238E27FC236}">
                <a16:creationId xmlns:a16="http://schemas.microsoft.com/office/drawing/2014/main" id="{BAA5A6DE-1036-5A87-A9DE-E6E966FF0137}"/>
              </a:ext>
            </a:extLst>
          </p:cNvPr>
          <p:cNvSpPr/>
          <p:nvPr/>
        </p:nvSpPr>
        <p:spPr>
          <a:xfrm>
            <a:off x="582433" y="3834843"/>
            <a:ext cx="310896" cy="310896"/>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a:extLst>
              <a:ext uri="{FF2B5EF4-FFF2-40B4-BE49-F238E27FC236}">
                <a16:creationId xmlns:a16="http://schemas.microsoft.com/office/drawing/2014/main" id="{861252F1-4D12-D6FF-791E-7E3D44D8C770}"/>
              </a:ext>
            </a:extLst>
          </p:cNvPr>
          <p:cNvSpPr/>
          <p:nvPr/>
        </p:nvSpPr>
        <p:spPr>
          <a:xfrm>
            <a:off x="600879" y="2390610"/>
            <a:ext cx="310896" cy="310896"/>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5" name="Oval 14">
            <a:extLst>
              <a:ext uri="{FF2B5EF4-FFF2-40B4-BE49-F238E27FC236}">
                <a16:creationId xmlns:a16="http://schemas.microsoft.com/office/drawing/2014/main" id="{A979349C-5129-94EF-4C36-4C26AEF7665C}"/>
              </a:ext>
            </a:extLst>
          </p:cNvPr>
          <p:cNvSpPr/>
          <p:nvPr/>
        </p:nvSpPr>
        <p:spPr>
          <a:xfrm>
            <a:off x="585216" y="1139110"/>
            <a:ext cx="310896" cy="310896"/>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a:extLst>
              <a:ext uri="{FF2B5EF4-FFF2-40B4-BE49-F238E27FC236}">
                <a16:creationId xmlns:a16="http://schemas.microsoft.com/office/drawing/2014/main" id="{A1CA1D37-0A8B-FCBF-8996-1C45B617F5F0}"/>
              </a:ext>
            </a:extLst>
          </p:cNvPr>
          <p:cNvSpPr/>
          <p:nvPr/>
        </p:nvSpPr>
        <p:spPr>
          <a:xfrm>
            <a:off x="6079943" y="2478111"/>
            <a:ext cx="310896" cy="310896"/>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a:extLst>
              <a:ext uri="{FF2B5EF4-FFF2-40B4-BE49-F238E27FC236}">
                <a16:creationId xmlns:a16="http://schemas.microsoft.com/office/drawing/2014/main" id="{1F2096BD-4103-8DC1-9A75-7E3543736A02}"/>
              </a:ext>
            </a:extLst>
          </p:cNvPr>
          <p:cNvSpPr/>
          <p:nvPr/>
        </p:nvSpPr>
        <p:spPr>
          <a:xfrm>
            <a:off x="6079943" y="1215243"/>
            <a:ext cx="310896" cy="310896"/>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1" name="Oval 20">
            <a:extLst>
              <a:ext uri="{FF2B5EF4-FFF2-40B4-BE49-F238E27FC236}">
                <a16:creationId xmlns:a16="http://schemas.microsoft.com/office/drawing/2014/main" id="{C2DC32C4-24DE-2CC4-1F3B-747E91267AAF}"/>
              </a:ext>
            </a:extLst>
          </p:cNvPr>
          <p:cNvSpPr/>
          <p:nvPr/>
        </p:nvSpPr>
        <p:spPr>
          <a:xfrm>
            <a:off x="585259" y="1713468"/>
            <a:ext cx="310896" cy="31089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a:extLst>
              <a:ext uri="{FF2B5EF4-FFF2-40B4-BE49-F238E27FC236}">
                <a16:creationId xmlns:a16="http://schemas.microsoft.com/office/drawing/2014/main" id="{BF6F6E35-A615-1B53-1B6D-5A7070566494}"/>
              </a:ext>
            </a:extLst>
          </p:cNvPr>
          <p:cNvSpPr/>
          <p:nvPr/>
        </p:nvSpPr>
        <p:spPr>
          <a:xfrm>
            <a:off x="582433" y="4548863"/>
            <a:ext cx="310896" cy="31089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4" name="Oval 23">
            <a:extLst>
              <a:ext uri="{FF2B5EF4-FFF2-40B4-BE49-F238E27FC236}">
                <a16:creationId xmlns:a16="http://schemas.microsoft.com/office/drawing/2014/main" id="{A03BA8C1-8147-8854-9755-D473B8DBF4A4}"/>
              </a:ext>
            </a:extLst>
          </p:cNvPr>
          <p:cNvSpPr/>
          <p:nvPr/>
        </p:nvSpPr>
        <p:spPr>
          <a:xfrm>
            <a:off x="585216" y="3134995"/>
            <a:ext cx="310896" cy="31089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a:extLst>
              <a:ext uri="{FF2B5EF4-FFF2-40B4-BE49-F238E27FC236}">
                <a16:creationId xmlns:a16="http://schemas.microsoft.com/office/drawing/2014/main" id="{8A80D6F5-7564-DF5B-E848-2E19A0D2F545}"/>
              </a:ext>
            </a:extLst>
          </p:cNvPr>
          <p:cNvSpPr/>
          <p:nvPr/>
        </p:nvSpPr>
        <p:spPr>
          <a:xfrm>
            <a:off x="6079943" y="1880926"/>
            <a:ext cx="310896" cy="31089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a:extLst>
              <a:ext uri="{FF2B5EF4-FFF2-40B4-BE49-F238E27FC236}">
                <a16:creationId xmlns:a16="http://schemas.microsoft.com/office/drawing/2014/main" id="{84846CBF-D5BE-9CD0-86A4-BCC55FF722CA}"/>
              </a:ext>
            </a:extLst>
          </p:cNvPr>
          <p:cNvSpPr/>
          <p:nvPr/>
        </p:nvSpPr>
        <p:spPr>
          <a:xfrm>
            <a:off x="6100022" y="3112513"/>
            <a:ext cx="310896" cy="31089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868680"/>
            <a:ext cx="3200400" cy="32004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966960" y="4937760"/>
            <a:ext cx="2468880" cy="24688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469880" y="310896"/>
            <a:ext cx="109728" cy="1645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634472" y="182880"/>
            <a:ext cx="10972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799063" y="64008"/>
            <a:ext cx="109728" cy="4114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63655" y="219456"/>
            <a:ext cx="10972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84048"/>
            <a:ext cx="9235440" cy="749808"/>
          </a:xfrm>
          <a:prstGeom prst="rect">
            <a:avLst/>
          </a:prstGeom>
          <a:noFill/>
        </p:spPr>
        <p:txBody>
          <a:bodyPr wrap="square" anchor="t">
            <a:spAutoFit/>
          </a:bodyPr>
          <a:lstStyle/>
          <a:p>
            <a:pPr algn="l"/>
            <a:r>
              <a:rPr sz="3400" b="1">
                <a:solidFill>
                  <a:srgbClr val="112646"/>
                </a:solidFill>
                <a:latin typeface="Segoe UI"/>
              </a:rPr>
              <a:t>Conclusion</a:t>
            </a:r>
          </a:p>
        </p:txBody>
      </p:sp>
      <p:sp>
        <p:nvSpPr>
          <p:cNvPr id="11" name="Oval 10"/>
          <p:cNvSpPr/>
          <p:nvPr/>
        </p:nvSpPr>
        <p:spPr>
          <a:xfrm>
            <a:off x="822960" y="2002536"/>
            <a:ext cx="274320" cy="27432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07008" y="1965960"/>
            <a:ext cx="10332720" cy="411480"/>
          </a:xfrm>
          <a:prstGeom prst="rect">
            <a:avLst/>
          </a:prstGeom>
          <a:noFill/>
        </p:spPr>
        <p:txBody>
          <a:bodyPr wrap="square" anchor="t">
            <a:spAutoFit/>
          </a:bodyPr>
          <a:lstStyle/>
          <a:p>
            <a:pPr algn="l"/>
            <a:r>
              <a:rPr sz="2000" b="0">
                <a:solidFill>
                  <a:srgbClr val="2E4055"/>
                </a:solidFill>
                <a:latin typeface="Segoe UI"/>
              </a:rPr>
              <a:t>Simplifies expense management</a:t>
            </a:r>
          </a:p>
        </p:txBody>
      </p:sp>
      <p:sp>
        <p:nvSpPr>
          <p:cNvPr id="14" name="Oval 13"/>
          <p:cNvSpPr/>
          <p:nvPr/>
        </p:nvSpPr>
        <p:spPr>
          <a:xfrm>
            <a:off x="822960" y="2871215"/>
            <a:ext cx="274320" cy="27432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07008" y="2834639"/>
            <a:ext cx="10332720" cy="411480"/>
          </a:xfrm>
          <a:prstGeom prst="rect">
            <a:avLst/>
          </a:prstGeom>
          <a:noFill/>
        </p:spPr>
        <p:txBody>
          <a:bodyPr wrap="square" anchor="t">
            <a:spAutoFit/>
          </a:bodyPr>
          <a:lstStyle/>
          <a:p>
            <a:pPr algn="l"/>
            <a:r>
              <a:rPr sz="2000" b="0">
                <a:solidFill>
                  <a:srgbClr val="2E4055"/>
                </a:solidFill>
                <a:latin typeface="Segoe UI"/>
              </a:rPr>
              <a:t>Helps control spending effectively</a:t>
            </a:r>
          </a:p>
        </p:txBody>
      </p:sp>
      <p:sp>
        <p:nvSpPr>
          <p:cNvPr id="17" name="Oval 16"/>
          <p:cNvSpPr/>
          <p:nvPr/>
        </p:nvSpPr>
        <p:spPr>
          <a:xfrm>
            <a:off x="822960" y="3739896"/>
            <a:ext cx="274320" cy="27432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07008" y="3703320"/>
            <a:ext cx="10332720" cy="411480"/>
          </a:xfrm>
          <a:prstGeom prst="rect">
            <a:avLst/>
          </a:prstGeom>
          <a:noFill/>
        </p:spPr>
        <p:txBody>
          <a:bodyPr wrap="square" anchor="t">
            <a:spAutoFit/>
          </a:bodyPr>
          <a:lstStyle/>
          <a:p>
            <a:pPr algn="l"/>
            <a:r>
              <a:rPr sz="2000" b="0">
                <a:solidFill>
                  <a:srgbClr val="2E4055"/>
                </a:solidFill>
                <a:latin typeface="Segoe UI"/>
              </a:rPr>
              <a:t>Promotes better budgeting habits</a:t>
            </a:r>
          </a:p>
        </p:txBody>
      </p:sp>
      <p:sp>
        <p:nvSpPr>
          <p:cNvPr id="20" name="Oval 19"/>
          <p:cNvSpPr/>
          <p:nvPr/>
        </p:nvSpPr>
        <p:spPr>
          <a:xfrm>
            <a:off x="822960" y="4608576"/>
            <a:ext cx="274320" cy="27432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207008" y="4572000"/>
            <a:ext cx="10332720" cy="400110"/>
          </a:xfrm>
          <a:prstGeom prst="rect">
            <a:avLst/>
          </a:prstGeom>
          <a:noFill/>
        </p:spPr>
        <p:txBody>
          <a:bodyPr wrap="square" anchor="t">
            <a:spAutoFit/>
          </a:bodyPr>
          <a:lstStyle/>
          <a:p>
            <a:r>
              <a:rPr lang="en-IN" sz="2000" dirty="0">
                <a:solidFill>
                  <a:srgbClr val="2C3E50"/>
                </a:solidFill>
                <a:latin typeface="Segoe UI"/>
              </a:rPr>
              <a:t>Future improvements can enhance functionality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728"/>
            <a:ext cx="12191695"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868680"/>
            <a:ext cx="3200400" cy="32004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966960" y="4937760"/>
            <a:ext cx="2468880" cy="24688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469880" y="310896"/>
            <a:ext cx="109728" cy="1645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634472" y="182880"/>
            <a:ext cx="10972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799063" y="64008"/>
            <a:ext cx="109728" cy="4114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63655" y="219456"/>
            <a:ext cx="10972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384048"/>
            <a:ext cx="9235440" cy="749808"/>
          </a:xfrm>
          <a:prstGeom prst="rect">
            <a:avLst/>
          </a:prstGeom>
          <a:noFill/>
        </p:spPr>
        <p:txBody>
          <a:bodyPr wrap="square" anchor="t">
            <a:spAutoFit/>
          </a:bodyPr>
          <a:lstStyle/>
          <a:p>
            <a:pPr algn="l"/>
            <a:r>
              <a:rPr sz="3400" b="1">
                <a:solidFill>
                  <a:srgbClr val="112646"/>
                </a:solidFill>
                <a:latin typeface="Segoe UI"/>
              </a:rPr>
              <a:t>Future Enhancements</a:t>
            </a:r>
          </a:p>
        </p:txBody>
      </p:sp>
      <p:sp>
        <p:nvSpPr>
          <p:cNvPr id="11" name="Rounded Rectangle 10"/>
          <p:cNvSpPr/>
          <p:nvPr/>
        </p:nvSpPr>
        <p:spPr>
          <a:xfrm>
            <a:off x="502920" y="1691640"/>
            <a:ext cx="3611880" cy="1188720"/>
          </a:xfrm>
          <a:prstGeom prst="roundRect">
            <a:avLst/>
          </a:prstGeom>
          <a:solidFill>
            <a:srgbClr val="EFF8FF"/>
          </a:solidFill>
          <a:ln w="177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075688"/>
            <a:ext cx="3282696" cy="292388"/>
          </a:xfrm>
          <a:prstGeom prst="rect">
            <a:avLst/>
          </a:prstGeom>
          <a:noFill/>
        </p:spPr>
        <p:txBody>
          <a:bodyPr wrap="square" anchor="t">
            <a:spAutoFit/>
          </a:bodyPr>
          <a:lstStyle/>
          <a:p>
            <a:pPr algn="ctr"/>
            <a:r>
              <a:rPr lang="en-US" sz="1300" b="1" dirty="0">
                <a:solidFill>
                  <a:srgbClr val="112646"/>
                </a:solidFill>
                <a:latin typeface="Segoe UI"/>
              </a:rPr>
              <a:t>      </a:t>
            </a:r>
            <a:r>
              <a:rPr sz="1300" b="1" dirty="0">
                <a:solidFill>
                  <a:srgbClr val="112646"/>
                </a:solidFill>
                <a:latin typeface="Segoe UI"/>
              </a:rPr>
              <a:t>Multi-User Support</a:t>
            </a:r>
          </a:p>
        </p:txBody>
      </p:sp>
      <p:sp>
        <p:nvSpPr>
          <p:cNvPr id="13" name="Rounded Rectangle 12"/>
          <p:cNvSpPr/>
          <p:nvPr/>
        </p:nvSpPr>
        <p:spPr>
          <a:xfrm>
            <a:off x="4206240" y="1691640"/>
            <a:ext cx="3611880" cy="1188720"/>
          </a:xfrm>
          <a:prstGeom prst="roundRect">
            <a:avLst/>
          </a:prstGeom>
          <a:solidFill>
            <a:srgbClr val="EEFCF4"/>
          </a:solidFill>
          <a:ln w="1778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70831" y="2075688"/>
            <a:ext cx="3282696" cy="457200"/>
          </a:xfrm>
          <a:prstGeom prst="rect">
            <a:avLst/>
          </a:prstGeom>
          <a:noFill/>
        </p:spPr>
        <p:txBody>
          <a:bodyPr wrap="square" anchor="t">
            <a:spAutoFit/>
          </a:bodyPr>
          <a:lstStyle/>
          <a:p>
            <a:pPr algn="ctr"/>
            <a:r>
              <a:rPr sz="1300" b="1">
                <a:solidFill>
                  <a:srgbClr val="112646"/>
                </a:solidFill>
                <a:latin typeface="Segoe UI"/>
              </a:rPr>
              <a:t>Secure Authentication</a:t>
            </a:r>
          </a:p>
        </p:txBody>
      </p:sp>
      <p:sp>
        <p:nvSpPr>
          <p:cNvPr id="15" name="Rounded Rectangle 14"/>
          <p:cNvSpPr/>
          <p:nvPr/>
        </p:nvSpPr>
        <p:spPr>
          <a:xfrm>
            <a:off x="7909560" y="1691640"/>
            <a:ext cx="3611880" cy="1188720"/>
          </a:xfrm>
          <a:prstGeom prst="roundRect">
            <a:avLst/>
          </a:prstGeom>
          <a:solidFill>
            <a:srgbClr val="EFF8FF"/>
          </a:solidFill>
          <a:ln w="177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74152" y="2075688"/>
            <a:ext cx="3282696" cy="292388"/>
          </a:xfrm>
          <a:prstGeom prst="rect">
            <a:avLst/>
          </a:prstGeom>
          <a:noFill/>
        </p:spPr>
        <p:txBody>
          <a:bodyPr wrap="square" anchor="t">
            <a:spAutoFit/>
          </a:bodyPr>
          <a:lstStyle/>
          <a:p>
            <a:pPr algn="ctr"/>
            <a:r>
              <a:rPr lang="en-US" sz="1300" b="1" dirty="0">
                <a:solidFill>
                  <a:srgbClr val="112646"/>
                </a:solidFill>
                <a:latin typeface="Segoe UI"/>
              </a:rPr>
              <a:t>     </a:t>
            </a:r>
            <a:r>
              <a:rPr sz="1300" b="1" dirty="0">
                <a:solidFill>
                  <a:srgbClr val="112646"/>
                </a:solidFill>
                <a:latin typeface="Segoe UI"/>
              </a:rPr>
              <a:t>Recurring Income and Expense Entry</a:t>
            </a:r>
          </a:p>
        </p:txBody>
      </p:sp>
      <p:sp>
        <p:nvSpPr>
          <p:cNvPr id="17" name="Rounded Rectangle 16"/>
          <p:cNvSpPr/>
          <p:nvPr/>
        </p:nvSpPr>
        <p:spPr>
          <a:xfrm>
            <a:off x="502920" y="3108960"/>
            <a:ext cx="3611880" cy="1188720"/>
          </a:xfrm>
          <a:prstGeom prst="roundRect">
            <a:avLst/>
          </a:prstGeom>
          <a:solidFill>
            <a:srgbClr val="EEFCF4"/>
          </a:solidFill>
          <a:ln w="1778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206240" y="3108960"/>
            <a:ext cx="3611880" cy="1188720"/>
          </a:xfrm>
          <a:prstGeom prst="roundRect">
            <a:avLst/>
          </a:prstGeom>
          <a:solidFill>
            <a:srgbClr val="EFF8FF"/>
          </a:solidFill>
          <a:ln w="177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70831" y="3493008"/>
            <a:ext cx="3282696" cy="457200"/>
          </a:xfrm>
          <a:prstGeom prst="rect">
            <a:avLst/>
          </a:prstGeom>
          <a:noFill/>
        </p:spPr>
        <p:txBody>
          <a:bodyPr wrap="square" anchor="t">
            <a:spAutoFit/>
          </a:bodyPr>
          <a:lstStyle/>
          <a:p>
            <a:pPr algn="ctr"/>
            <a:r>
              <a:rPr sz="1300" b="1" dirty="0">
                <a:solidFill>
                  <a:srgbClr val="112646"/>
                </a:solidFill>
                <a:latin typeface="Segoe UI"/>
              </a:rPr>
              <a:t>Cloud Database Integration</a:t>
            </a:r>
          </a:p>
        </p:txBody>
      </p:sp>
      <p:sp>
        <p:nvSpPr>
          <p:cNvPr id="21" name="Rounded Rectangle 20"/>
          <p:cNvSpPr/>
          <p:nvPr/>
        </p:nvSpPr>
        <p:spPr>
          <a:xfrm>
            <a:off x="7909560" y="3108960"/>
            <a:ext cx="3611880" cy="1188720"/>
          </a:xfrm>
          <a:prstGeom prst="roundRect">
            <a:avLst/>
          </a:prstGeom>
          <a:solidFill>
            <a:srgbClr val="EEFCF4"/>
          </a:solidFill>
          <a:ln w="1778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74152" y="3493008"/>
            <a:ext cx="3282696" cy="457200"/>
          </a:xfrm>
          <a:prstGeom prst="rect">
            <a:avLst/>
          </a:prstGeom>
          <a:noFill/>
        </p:spPr>
        <p:txBody>
          <a:bodyPr wrap="square" anchor="t">
            <a:spAutoFit/>
          </a:bodyPr>
          <a:lstStyle/>
          <a:p>
            <a:pPr algn="ctr"/>
            <a:r>
              <a:rPr sz="1300" b="1">
                <a:solidFill>
                  <a:srgbClr val="112646"/>
                </a:solidFill>
                <a:latin typeface="Segoe UI"/>
              </a:rPr>
              <a:t>Export Reports (PDF/Excel)</a:t>
            </a:r>
          </a:p>
        </p:txBody>
      </p:sp>
      <p:sp>
        <p:nvSpPr>
          <p:cNvPr id="24" name="TextBox 23"/>
          <p:cNvSpPr txBox="1"/>
          <p:nvPr/>
        </p:nvSpPr>
        <p:spPr>
          <a:xfrm>
            <a:off x="822452" y="3493008"/>
            <a:ext cx="3282696" cy="457200"/>
          </a:xfrm>
          <a:prstGeom prst="rect">
            <a:avLst/>
          </a:prstGeom>
          <a:noFill/>
        </p:spPr>
        <p:txBody>
          <a:bodyPr wrap="square" anchor="t">
            <a:spAutoFit/>
          </a:bodyPr>
          <a:lstStyle/>
          <a:p>
            <a:pPr algn="ctr"/>
            <a:r>
              <a:rPr sz="1300" b="1" dirty="0">
                <a:solidFill>
                  <a:srgbClr val="112646"/>
                </a:solidFill>
                <a:latin typeface="Segoe UI"/>
              </a:rPr>
              <a:t>Mobile Application Version</a:t>
            </a:r>
          </a:p>
        </p:txBody>
      </p:sp>
      <p:sp>
        <p:nvSpPr>
          <p:cNvPr id="25" name="Oval 24">
            <a:extLst>
              <a:ext uri="{FF2B5EF4-FFF2-40B4-BE49-F238E27FC236}">
                <a16:creationId xmlns:a16="http://schemas.microsoft.com/office/drawing/2014/main" id="{BEE4B17F-81C4-0C88-E374-99FE56447577}"/>
              </a:ext>
            </a:extLst>
          </p:cNvPr>
          <p:cNvSpPr/>
          <p:nvPr/>
        </p:nvSpPr>
        <p:spPr>
          <a:xfrm>
            <a:off x="669544" y="1842008"/>
            <a:ext cx="310896" cy="31089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a:extLst>
              <a:ext uri="{FF2B5EF4-FFF2-40B4-BE49-F238E27FC236}">
                <a16:creationId xmlns:a16="http://schemas.microsoft.com/office/drawing/2014/main" id="{C2B31F6B-A4A5-B4E4-D9E7-F7A149A3C131}"/>
              </a:ext>
            </a:extLst>
          </p:cNvPr>
          <p:cNvSpPr/>
          <p:nvPr/>
        </p:nvSpPr>
        <p:spPr>
          <a:xfrm>
            <a:off x="4375911" y="3246120"/>
            <a:ext cx="310896" cy="31089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a:extLst>
              <a:ext uri="{FF2B5EF4-FFF2-40B4-BE49-F238E27FC236}">
                <a16:creationId xmlns:a16="http://schemas.microsoft.com/office/drawing/2014/main" id="{2FE702A0-50AB-CDD0-7321-A50D7A9042EE}"/>
              </a:ext>
            </a:extLst>
          </p:cNvPr>
          <p:cNvSpPr/>
          <p:nvPr/>
        </p:nvSpPr>
        <p:spPr>
          <a:xfrm>
            <a:off x="8059064" y="1764792"/>
            <a:ext cx="310896" cy="31089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a:extLst>
              <a:ext uri="{FF2B5EF4-FFF2-40B4-BE49-F238E27FC236}">
                <a16:creationId xmlns:a16="http://schemas.microsoft.com/office/drawing/2014/main" id="{7A172FAC-56DE-332F-DFB3-8B03F412462D}"/>
              </a:ext>
            </a:extLst>
          </p:cNvPr>
          <p:cNvSpPr/>
          <p:nvPr/>
        </p:nvSpPr>
        <p:spPr>
          <a:xfrm>
            <a:off x="4370831" y="1764792"/>
            <a:ext cx="310896" cy="310896"/>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a:extLst>
              <a:ext uri="{FF2B5EF4-FFF2-40B4-BE49-F238E27FC236}">
                <a16:creationId xmlns:a16="http://schemas.microsoft.com/office/drawing/2014/main" id="{199418E2-A6DB-304B-6AFE-DDA87C54C607}"/>
              </a:ext>
            </a:extLst>
          </p:cNvPr>
          <p:cNvSpPr/>
          <p:nvPr/>
        </p:nvSpPr>
        <p:spPr>
          <a:xfrm>
            <a:off x="669544" y="3246120"/>
            <a:ext cx="310896" cy="310896"/>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a:extLst>
              <a:ext uri="{FF2B5EF4-FFF2-40B4-BE49-F238E27FC236}">
                <a16:creationId xmlns:a16="http://schemas.microsoft.com/office/drawing/2014/main" id="{619CAEE7-7560-BC09-8382-7494A491E9A1}"/>
              </a:ext>
            </a:extLst>
          </p:cNvPr>
          <p:cNvSpPr/>
          <p:nvPr/>
        </p:nvSpPr>
        <p:spPr>
          <a:xfrm>
            <a:off x="8074152" y="3182112"/>
            <a:ext cx="310896" cy="310896"/>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D7150-4E91-3667-4996-4D27A9B3DCE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8129213-5E7A-5F7E-C122-4A2143ECEB1E}"/>
              </a:ext>
            </a:extLst>
          </p:cNvPr>
          <p:cNvSpPr/>
          <p:nvPr/>
        </p:nvSpPr>
        <p:spPr>
          <a:xfrm>
            <a:off x="0" y="0"/>
            <a:ext cx="12191695" cy="1463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C1717801-B198-24F5-890A-CC7FCA769A4B}"/>
              </a:ext>
            </a:extLst>
          </p:cNvPr>
          <p:cNvSpPr/>
          <p:nvPr/>
        </p:nvSpPr>
        <p:spPr>
          <a:xfrm>
            <a:off x="9784080" y="-868680"/>
            <a:ext cx="3200400" cy="32004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a:extLst>
              <a:ext uri="{FF2B5EF4-FFF2-40B4-BE49-F238E27FC236}">
                <a16:creationId xmlns:a16="http://schemas.microsoft.com/office/drawing/2014/main" id="{51E141C4-5DEB-5DE0-7E3F-72F4D6839266}"/>
              </a:ext>
            </a:extLst>
          </p:cNvPr>
          <p:cNvSpPr/>
          <p:nvPr/>
        </p:nvSpPr>
        <p:spPr>
          <a:xfrm>
            <a:off x="9966960" y="4937760"/>
            <a:ext cx="2468880" cy="24688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4EEBDA4D-2285-056D-AD00-2850C2A3366B}"/>
              </a:ext>
            </a:extLst>
          </p:cNvPr>
          <p:cNvSpPr/>
          <p:nvPr/>
        </p:nvSpPr>
        <p:spPr>
          <a:xfrm>
            <a:off x="10469880" y="310896"/>
            <a:ext cx="109728" cy="1645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08645E83-D5BE-8241-37BD-83CDFF925D19}"/>
              </a:ext>
            </a:extLst>
          </p:cNvPr>
          <p:cNvSpPr/>
          <p:nvPr/>
        </p:nvSpPr>
        <p:spPr>
          <a:xfrm>
            <a:off x="10634472" y="182880"/>
            <a:ext cx="10972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B5B5B771-36BF-4637-CD39-F9D8A0017E5E}"/>
              </a:ext>
            </a:extLst>
          </p:cNvPr>
          <p:cNvSpPr/>
          <p:nvPr/>
        </p:nvSpPr>
        <p:spPr>
          <a:xfrm>
            <a:off x="10799063" y="64008"/>
            <a:ext cx="109728" cy="4114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451D8FBB-B6A7-D203-C5F2-E4DA249E6CCA}"/>
              </a:ext>
            </a:extLst>
          </p:cNvPr>
          <p:cNvSpPr/>
          <p:nvPr/>
        </p:nvSpPr>
        <p:spPr>
          <a:xfrm>
            <a:off x="10963655" y="219456"/>
            <a:ext cx="10972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6197BC36-291D-3F51-A890-77AB4ED4CD3A}"/>
              </a:ext>
            </a:extLst>
          </p:cNvPr>
          <p:cNvSpPr txBox="1"/>
          <p:nvPr/>
        </p:nvSpPr>
        <p:spPr>
          <a:xfrm>
            <a:off x="635000" y="400456"/>
            <a:ext cx="9232900" cy="609600"/>
          </a:xfrm>
          <a:prstGeom prst="rect">
            <a:avLst/>
          </a:prstGeom>
          <a:noFill/>
        </p:spPr>
        <p:txBody>
          <a:bodyPr wrap="square" lIns="63500" tIns="25400" rIns="63500" bIns="25400" anchor="t">
            <a:noAutofit/>
          </a:bodyPr>
          <a:lstStyle/>
          <a:p>
            <a:pPr algn="l"/>
            <a:r>
              <a:rPr lang="en-US" sz="3000" b="1">
                <a:solidFill>
                  <a:srgbClr val="112646"/>
                </a:solidFill>
                <a:latin typeface="Segoe UI"/>
              </a:rPr>
              <a:t>References</a:t>
            </a:r>
            <a:endParaRPr sz="3000" b="1" dirty="0">
              <a:solidFill>
                <a:srgbClr val="112646"/>
              </a:solidFill>
              <a:latin typeface="Segoe UI"/>
            </a:endParaRPr>
          </a:p>
        </p:txBody>
      </p:sp>
      <p:sp>
        <p:nvSpPr>
          <p:cNvPr id="21" name="TextBox 20">
            <a:extLst>
              <a:ext uri="{FF2B5EF4-FFF2-40B4-BE49-F238E27FC236}">
                <a16:creationId xmlns:a16="http://schemas.microsoft.com/office/drawing/2014/main" id="{546D98F0-13EB-9E0B-7845-A38504D5E02B}"/>
              </a:ext>
            </a:extLst>
          </p:cNvPr>
          <p:cNvSpPr txBox="1"/>
          <p:nvPr/>
        </p:nvSpPr>
        <p:spPr>
          <a:xfrm>
            <a:off x="1016000" y="1168400"/>
            <a:ext cx="10795000" cy="979046"/>
          </a:xfrm>
          <a:prstGeom prst="rect">
            <a:avLst/>
          </a:prstGeom>
          <a:noFill/>
        </p:spPr>
        <p:txBody>
          <a:bodyPr wrap="square" lIns="63500" tIns="25400" rIns="63500" bIns="25400" rtlCol="0">
            <a:noAutofit/>
          </a:bodyPr>
          <a:lstStyle/>
          <a:p>
            <a:r>
              <a:rPr lang="en-US" dirty="0"/>
              <a:t>[1] S. Jha, P. Jha, R. Singh, S. Kumari and Lokesh, 'Design and Implementation of a Web-Based </a:t>
            </a:r>
            <a:br>
              <a:rPr lang="en-US" dirty="0"/>
            </a:br>
            <a:r>
              <a:rPr lang="en-US" dirty="0"/>
              <a:t>     Expense Tracker System for Personal Finance Management,’</a:t>
            </a:r>
          </a:p>
          <a:p>
            <a:r>
              <a:rPr lang="en-US" dirty="0"/>
              <a:t>    International Journal of Research in Engineering &amp; Science, vol. 9, no. 6, 2025, </a:t>
            </a:r>
            <a:br>
              <a:rPr lang="en-US" dirty="0"/>
            </a:br>
            <a:r>
              <a:rPr lang="en-US" dirty="0"/>
              <a:t>    doi:10.5281/zenodo.18066941.</a:t>
            </a:r>
            <a:endParaRPr lang="en-IN" dirty="0"/>
          </a:p>
        </p:txBody>
      </p:sp>
      <p:sp>
        <p:nvSpPr>
          <p:cNvPr id="11" name="TextBox 10">
            <a:extLst>
              <a:ext uri="{FF2B5EF4-FFF2-40B4-BE49-F238E27FC236}">
                <a16:creationId xmlns:a16="http://schemas.microsoft.com/office/drawing/2014/main" id="{C668C7FC-7691-E9AB-28AE-BF8DC1F1A29D}"/>
              </a:ext>
            </a:extLst>
          </p:cNvPr>
          <p:cNvSpPr txBox="1"/>
          <p:nvPr/>
        </p:nvSpPr>
        <p:spPr>
          <a:xfrm>
            <a:off x="1032060" y="2456730"/>
            <a:ext cx="10795000" cy="1165611"/>
          </a:xfrm>
          <a:prstGeom prst="rect">
            <a:avLst/>
          </a:prstGeom>
          <a:noFill/>
        </p:spPr>
        <p:txBody>
          <a:bodyPr wrap="square" lIns="63500" tIns="25400" rIns="63500" bIns="25400" rtlCol="0">
            <a:noAutofit/>
          </a:bodyPr>
          <a:lstStyle/>
          <a:p>
            <a:r>
              <a:rPr lang="en-US" dirty="0"/>
              <a:t>[2] J. Mohan, D. Santosh </a:t>
            </a:r>
            <a:r>
              <a:rPr lang="en-US" dirty="0" err="1"/>
              <a:t>Tonape</a:t>
            </a:r>
            <a:r>
              <a:rPr lang="en-US" dirty="0"/>
              <a:t>, D. Bhargav, G. Vinay Reddy and K. Akshay, 'EXPENSE TRACKER - An Expense                </a:t>
            </a:r>
            <a:br>
              <a:rPr lang="en-US" dirty="0"/>
            </a:br>
            <a:r>
              <a:rPr lang="en-US" dirty="0"/>
              <a:t>      Tracking Application Using OCR and Random Forest Algorithm,’</a:t>
            </a:r>
            <a:br>
              <a:rPr lang="en-US" dirty="0"/>
            </a:br>
            <a:r>
              <a:rPr lang="en-US" dirty="0"/>
              <a:t>      International Journal of Engineering Research and Science &amp; Technology, vol. 21, no. 3 (1), pp. 1795-1802,</a:t>
            </a:r>
          </a:p>
          <a:p>
            <a:r>
              <a:rPr lang="en-US" dirty="0"/>
              <a:t>      2025, doi:10.62643/ijerst.2025.v21.n3(1).pp1795-1802.               </a:t>
            </a:r>
            <a:endParaRPr lang="en-IN" dirty="0"/>
          </a:p>
        </p:txBody>
      </p:sp>
      <p:sp>
        <p:nvSpPr>
          <p:cNvPr id="12" name="TextBox 11">
            <a:extLst>
              <a:ext uri="{FF2B5EF4-FFF2-40B4-BE49-F238E27FC236}">
                <a16:creationId xmlns:a16="http://schemas.microsoft.com/office/drawing/2014/main" id="{2E7CC0EB-89DE-2C0E-8D5F-3EAB9C863162}"/>
              </a:ext>
            </a:extLst>
          </p:cNvPr>
          <p:cNvSpPr txBox="1"/>
          <p:nvPr/>
        </p:nvSpPr>
        <p:spPr>
          <a:xfrm>
            <a:off x="1016000" y="3717252"/>
            <a:ext cx="10795000" cy="508000"/>
          </a:xfrm>
          <a:prstGeom prst="rect">
            <a:avLst/>
          </a:prstGeom>
          <a:noFill/>
        </p:spPr>
        <p:txBody>
          <a:bodyPr wrap="square" lIns="63500" tIns="25400" rIns="63500" bIns="25400" rtlCol="0">
            <a:noAutofit/>
          </a:bodyPr>
          <a:lstStyle/>
          <a:p>
            <a:r>
              <a:rPr lang="en-US" dirty="0"/>
              <a:t>[3] Python Software Foundation, 'Python Documentation,' 2024. [Online].</a:t>
            </a:r>
            <a:br>
              <a:rPr lang="en-US" dirty="0"/>
            </a:br>
            <a:r>
              <a:rPr lang="en-US" dirty="0"/>
              <a:t>      Available: </a:t>
            </a:r>
            <a:r>
              <a:rPr lang="en-US" dirty="0">
                <a:hlinkClick r:id="rId2"/>
              </a:rPr>
              <a:t>https://docs.python.org</a:t>
            </a:r>
            <a:br>
              <a:rPr lang="en-US" dirty="0"/>
            </a:br>
            <a:endParaRPr lang="en-IN" dirty="0"/>
          </a:p>
        </p:txBody>
      </p:sp>
      <p:sp>
        <p:nvSpPr>
          <p:cNvPr id="13" name="TextBox 12">
            <a:extLst>
              <a:ext uri="{FF2B5EF4-FFF2-40B4-BE49-F238E27FC236}">
                <a16:creationId xmlns:a16="http://schemas.microsoft.com/office/drawing/2014/main" id="{AB4A70C3-2386-7A7A-F1B0-FA5845A01781}"/>
              </a:ext>
            </a:extLst>
          </p:cNvPr>
          <p:cNvSpPr txBox="1"/>
          <p:nvPr/>
        </p:nvSpPr>
        <p:spPr>
          <a:xfrm>
            <a:off x="1016000" y="4320162"/>
            <a:ext cx="10795000" cy="508000"/>
          </a:xfrm>
          <a:prstGeom prst="rect">
            <a:avLst/>
          </a:prstGeom>
          <a:noFill/>
        </p:spPr>
        <p:txBody>
          <a:bodyPr wrap="square" lIns="63500" tIns="25400" rIns="63500" bIns="25400" rtlCol="0">
            <a:noAutofit/>
          </a:bodyPr>
          <a:lstStyle/>
          <a:p>
            <a:r>
              <a:rPr lang="en-US" dirty="0"/>
              <a:t>[4] Pallets Projects, 'Flask Documentation,' 2024. [Online]. </a:t>
            </a:r>
            <a:br>
              <a:rPr lang="en-US" dirty="0"/>
            </a:br>
            <a:r>
              <a:rPr lang="en-US" dirty="0"/>
              <a:t>     Available: </a:t>
            </a:r>
            <a:r>
              <a:rPr lang="en-US" dirty="0">
                <a:hlinkClick r:id="rId3"/>
              </a:rPr>
              <a:t>https://flask.palletsprojects.com</a:t>
            </a:r>
            <a:br>
              <a:rPr lang="en-US" dirty="0"/>
            </a:br>
            <a:endParaRPr lang="en-IN" dirty="0"/>
          </a:p>
        </p:txBody>
      </p:sp>
      <p:sp>
        <p:nvSpPr>
          <p:cNvPr id="14" name="TextBox 13">
            <a:extLst>
              <a:ext uri="{FF2B5EF4-FFF2-40B4-BE49-F238E27FC236}">
                <a16:creationId xmlns:a16="http://schemas.microsoft.com/office/drawing/2014/main" id="{8093C059-6219-DA70-B8BC-42CF9DEB2656}"/>
              </a:ext>
            </a:extLst>
          </p:cNvPr>
          <p:cNvSpPr txBox="1"/>
          <p:nvPr/>
        </p:nvSpPr>
        <p:spPr>
          <a:xfrm>
            <a:off x="1032060" y="4937760"/>
            <a:ext cx="10795000" cy="1066800"/>
          </a:xfrm>
          <a:prstGeom prst="rect">
            <a:avLst/>
          </a:prstGeom>
          <a:noFill/>
        </p:spPr>
        <p:txBody>
          <a:bodyPr wrap="square" lIns="63500" tIns="25400" rIns="63500" bIns="25400" rtlCol="0">
            <a:noAutofit/>
          </a:bodyPr>
          <a:lstStyle/>
          <a:p>
            <a:r>
              <a:rPr lang="en-US" dirty="0"/>
              <a:t>[5] MongoDB Inc., 'MongoDB Documentation,' 2024. [Online]. </a:t>
            </a:r>
            <a:br>
              <a:rPr lang="en-US" dirty="0"/>
            </a:br>
            <a:r>
              <a:rPr lang="en-US" dirty="0"/>
              <a:t>     Available: </a:t>
            </a:r>
            <a:r>
              <a:rPr lang="en-US" dirty="0">
                <a:hlinkClick r:id="rId4"/>
              </a:rPr>
              <a:t>https://www.mongodb.com/docs</a:t>
            </a:r>
            <a:br>
              <a:rPr lang="en-US" dirty="0"/>
            </a:br>
            <a:endParaRPr lang="en-US" dirty="0"/>
          </a:p>
          <a:p>
            <a:r>
              <a:rPr lang="en-US" dirty="0"/>
              <a:t>[6] W3Schools, 'HTML, CSS and JavaScript Tutorials,' [Online]. </a:t>
            </a:r>
            <a:br>
              <a:rPr lang="en-US" dirty="0"/>
            </a:br>
            <a:r>
              <a:rPr lang="en-US" dirty="0"/>
              <a:t>    Available: </a:t>
            </a:r>
            <a:r>
              <a:rPr lang="en-US" dirty="0">
                <a:hlinkClick r:id="rId5"/>
              </a:rPr>
              <a:t>https://www.w3schools.com</a:t>
            </a:r>
            <a:br>
              <a:rPr lang="en-US" dirty="0"/>
            </a:br>
            <a:endParaRPr lang="en-IN" dirty="0"/>
          </a:p>
        </p:txBody>
      </p:sp>
    </p:spTree>
    <p:extLst>
      <p:ext uri="{BB962C8B-B14F-4D97-AF65-F5344CB8AC3E}">
        <p14:creationId xmlns:p14="http://schemas.microsoft.com/office/powerpoint/2010/main" val="1538111615"/>
      </p:ext>
    </p:extLst>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463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784080" y="-868680"/>
            <a:ext cx="3200400" cy="32004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966960" y="4937760"/>
            <a:ext cx="2468880" cy="2468880"/>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0469880" y="310896"/>
            <a:ext cx="109728" cy="16459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634472" y="182880"/>
            <a:ext cx="109728"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799063" y="64008"/>
            <a:ext cx="109728" cy="41148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63655" y="219456"/>
            <a:ext cx="10972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103120" y="1828800"/>
            <a:ext cx="8046720" cy="2926080"/>
          </a:xfrm>
          <a:prstGeom prst="roundRect">
            <a:avLst/>
          </a:prstGeom>
          <a:solidFill>
            <a:schemeClr val="accent6">
              <a:lumMod val="40000"/>
              <a:lumOff val="60000"/>
            </a:schemeClr>
          </a:solidFill>
          <a:ln w="17780">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68880" y="2766060"/>
            <a:ext cx="7315200" cy="868680"/>
          </a:xfrm>
          <a:prstGeom prst="rect">
            <a:avLst/>
          </a:prstGeom>
          <a:noFill/>
        </p:spPr>
        <p:txBody>
          <a:bodyPr wrap="square" anchor="t">
            <a:spAutoFit/>
          </a:bodyPr>
          <a:lstStyle/>
          <a:p>
            <a:pPr algn="ctr"/>
            <a:r>
              <a:rPr sz="5200" b="1" dirty="0">
                <a:solidFill>
                  <a:srgbClr val="112646"/>
                </a:solidFill>
                <a:latin typeface="Segoe UI"/>
              </a:rPr>
              <a:t>Thank You</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351</TotalTime>
  <Words>1353</Words>
  <Application>Microsoft Office PowerPoint</Application>
  <PresentationFormat>Widescreen</PresentationFormat>
  <Paragraphs>172</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Arial Rounded MT Bold</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Ishan Chaudhari</cp:lastModifiedBy>
  <cp:revision>155</cp:revision>
  <dcterms:created xsi:type="dcterms:W3CDTF">2013-01-27T09:14:16Z</dcterms:created>
  <dcterms:modified xsi:type="dcterms:W3CDTF">2026-03-24T17:45:12Z</dcterms:modified>
  <cp:category/>
</cp:coreProperties>
</file>